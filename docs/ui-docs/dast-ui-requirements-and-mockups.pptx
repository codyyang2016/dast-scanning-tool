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8062a8-0778-c425-8159-24c2d0a001be}">
          <p14:sldIdLst>
            <p14:sldId id="256"/>
          </p14:sldIdLst>
        </p14:section>
        <p14:section name="Requirements" id="{5972856a-b524-fab9-d896-a015fac6860d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tyle 1 — Operator console" id="{f0e47ad7-b14d-acab-c5d4-3076a0429318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tyle 2 — Enterprise workspace" id="{2c51d69c-8693-46df-0ae3-0cd58e86b178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Style 3 — Guided flow" id="{6e3ed07a-ad76-f0f9-7cb0-a323e04ba5c7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Decision" id="{c02c97d7-ed84-92be-51de-51dd71fc7aa9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for discussion. The requirements come from docs/ui-docs/ui_requirements.md; the mockups are static HTML in docs/ui-docs/style-1..3.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remediation plan §1: config in, contracts out, one command, one artifact. The UI must not break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6D3D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6D3D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</a:rPr>
              <a:t>DAST tool UI · requirements and mockups · draft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</a:rPr>
              <a:t>DAST tool UI · requirements and mockups · draft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UI for the DAST tool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3DC"/>
                </a:solidFill>
              </a:rPr>
              <a:t>Requirements, and three design directions for the same seven screens</a:t>
            </a:r>
            <a:endParaRPr lang="en-US" sz="2000" dirty="0"/>
          </a:p>
        </p:txBody>
      </p:sp>
      <p:sp>
        <p:nvSpPr>
          <p:cNvPr id="4" name="Style 1 overview frame"/>
          <p:cNvSpPr/>
          <p:nvPr/>
        </p:nvSpPr>
        <p:spPr>
          <a:xfrm>
            <a:off x="512064" y="3623882"/>
            <a:ext cx="3502152" cy="221627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overview" descr="Style 1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60458"/>
            <a:ext cx="3429000" cy="2143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43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3DC"/>
                </a:solidFill>
              </a:rPr>
              <a:t>Style 1</a:t>
            </a:r>
            <a:endParaRPr lang="en-US" sz="1400" dirty="0"/>
          </a:p>
        </p:txBody>
      </p:sp>
      <p:sp>
        <p:nvSpPr>
          <p:cNvPr id="7" name="Style 2 overview frame"/>
          <p:cNvSpPr/>
          <p:nvPr/>
        </p:nvSpPr>
        <p:spPr>
          <a:xfrm>
            <a:off x="4546928" y="3621024"/>
            <a:ext cx="3067665" cy="222199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8" name="Style 2 overview" descr="Style 2 over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504" y="3657600"/>
            <a:ext cx="2994513" cy="2148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66260" y="5943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3DC"/>
                </a:solidFill>
              </a:rPr>
              <a:t>Style 2</a:t>
            </a:r>
            <a:endParaRPr lang="en-US" sz="1400" dirty="0"/>
          </a:p>
        </p:txBody>
      </p:sp>
      <p:sp>
        <p:nvSpPr>
          <p:cNvPr id="10" name="Style 3 overview frame"/>
          <p:cNvSpPr/>
          <p:nvPr/>
        </p:nvSpPr>
        <p:spPr>
          <a:xfrm>
            <a:off x="8742061" y="3621024"/>
            <a:ext cx="2312638" cy="222199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11" name="Style 3 overview" descr="Style 3 overvie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637" y="3657600"/>
            <a:ext cx="2239486" cy="21488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83880" y="5943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3DC"/>
                </a:solidFill>
              </a:rPr>
              <a:t>Style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goal: run a scan without reading the runbook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Today a scan means a long runbook, several terminals, exported credentials — and knowing which of about 120 settings matter.</a:t>
            </a:r>
            <a:endParaRPr lang="en-US" sz="1600" dirty="0"/>
          </a:p>
        </p:txBody>
      </p:sp>
      <p:sp>
        <p:nvSpPr>
          <p:cNvPr id="4" name="Stat settings today"/>
          <p:cNvSpPr/>
          <p:nvPr/>
        </p:nvSpPr>
        <p:spPr>
          <a:xfrm>
            <a:off x="548640" y="2423160"/>
            <a:ext cx="5120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423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settings today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4 commands, ~60 app.yaml fields, ~30 env vars</a:t>
            </a:r>
            <a:endParaRPr lang="en-US" sz="1500" dirty="0"/>
          </a:p>
        </p:txBody>
      </p:sp>
      <p:sp>
        <p:nvSpPr>
          <p:cNvPr id="7" name="Stat personas"/>
          <p:cNvSpPr/>
          <p:nvPr/>
        </p:nvSpPr>
        <p:spPr>
          <a:xfrm>
            <a:off x="548640" y="3657600"/>
            <a:ext cx="5120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57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657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DEV · SEC · OPS · GOV</a:t>
            </a:r>
            <a:endParaRPr lang="en-US" sz="1500" dirty="0"/>
          </a:p>
        </p:txBody>
      </p:sp>
      <p:sp>
        <p:nvSpPr>
          <p:cNvPr id="10" name="Stat tiers"/>
          <p:cNvSpPr/>
          <p:nvPr/>
        </p:nvSpPr>
        <p:spPr>
          <a:xfrm>
            <a:off x="548640" y="4892040"/>
            <a:ext cx="5120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92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4892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every setting gets exactly one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the UI must keep</a:t>
            </a:r>
            <a:endParaRPr lang="en-US" sz="2000" dirty="0"/>
          </a:p>
        </p:txBody>
      </p:sp>
      <p:sp>
        <p:nvSpPr>
          <p:cNvPr id="14" name="Rule 1 badge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Rule 1 label"/>
          <p:cNvSpPr txBox="1"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config file stays the source of truth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</a:rPr>
              <a:t>The UI reads and writes app.yaml. Nothing that changes a scan lives only in the UI.</a:t>
            </a:r>
            <a:endParaRPr lang="en-US" sz="1600" dirty="0"/>
          </a:p>
        </p:txBody>
      </p:sp>
      <p:sp>
        <p:nvSpPr>
          <p:cNvPr id="17" name="Rule 2 badge"/>
          <p:cNvSpPr/>
          <p:nvPr/>
        </p:nvSpPr>
        <p:spPr>
          <a:xfrm>
            <a:off x="6309360" y="3429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Rule 2 label"/>
          <p:cNvSpPr txBox="1"/>
          <p:nvPr/>
        </p:nvSpPr>
        <p:spPr>
          <a:xfrm>
            <a:off x="63093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383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front end to the dast commands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</a:rPr>
              <a:t>Every action maps to onboard, author, scan or report — and the UI can show the command.</a:t>
            </a:r>
            <a:endParaRPr lang="en-US" sz="1600" dirty="0"/>
          </a:p>
        </p:txBody>
      </p:sp>
      <p:sp>
        <p:nvSpPr>
          <p:cNvPr id="20" name="Rule 3 badge"/>
          <p:cNvSpPr/>
          <p:nvPr/>
        </p:nvSpPr>
        <p:spPr>
          <a:xfrm>
            <a:off x="6309360" y="4800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Rule 3 label"/>
          <p:cNvSpPr txBox="1"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Never more permissive than the CLI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</a:rPr>
              <a:t>Guardrails live in the core. The UI shows them; it can't turn them off.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people meet this tool, for different reasons</a:t>
            </a:r>
            <a:endParaRPr lang="en-US" sz="3600" dirty="0"/>
          </a:p>
        </p:txBody>
      </p:sp>
      <p:sp>
        <p:nvSpPr>
          <p:cNvPr id="3" name="SEC card"/>
          <p:cNvSpPr/>
          <p:nvPr/>
        </p:nvSpPr>
        <p:spPr>
          <a:xfrm>
            <a:off x="548640" y="137160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C badg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EC label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 engineer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The operator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Onboard an app, verify login, choose what gets tested, run scans, read results, approve triage.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Sees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Everything except approvals they don't hold</a:t>
            </a:r>
            <a:endParaRPr lang="en-US" sz="1300" dirty="0"/>
          </a:p>
        </p:txBody>
      </p:sp>
      <p:sp>
        <p:nvSpPr>
          <p:cNvPr id="9" name="DEV card"/>
          <p:cNvSpPr/>
          <p:nvPr/>
        </p:nvSpPr>
        <p:spPr>
          <a:xfrm>
            <a:off x="3367735" y="137160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EV badge"/>
          <p:cNvSpPr/>
          <p:nvPr/>
        </p:nvSpPr>
        <p:spPr>
          <a:xfrm>
            <a:off x="3642055" y="1645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DEV label"/>
          <p:cNvSpPr txBox="1"/>
          <p:nvPr/>
        </p:nvSpPr>
        <p:spPr>
          <a:xfrm>
            <a:off x="3642055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DEV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42055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 developer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Receives findings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42055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 a finding, reproduce it, propose "false positive" or "won't fix".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42055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Sees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Results and triage — their home stays GitHub</a:t>
            </a:r>
            <a:endParaRPr lang="en-US" sz="1300" dirty="0"/>
          </a:p>
        </p:txBody>
      </p:sp>
      <p:sp>
        <p:nvSpPr>
          <p:cNvPr id="15" name="OPS card"/>
          <p:cNvSpPr/>
          <p:nvPr/>
        </p:nvSpPr>
        <p:spPr>
          <a:xfrm>
            <a:off x="6186830" y="137160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PS badge"/>
          <p:cNvSpPr/>
          <p:nvPr/>
        </p:nvSpPr>
        <p:spPr>
          <a:xfrm>
            <a:off x="6461150" y="1645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OPS label"/>
          <p:cNvSpPr txBox="1"/>
          <p:nvPr/>
        </p:nvSpPr>
        <p:spPr>
          <a:xfrm>
            <a:off x="646115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61150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Platform / DevOps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Runs it unattended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61150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a working setup into CI on a schedule; set installation settings once.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61150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Sees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Export to CI, install settings, run history</a:t>
            </a:r>
            <a:endParaRPr lang="en-US" sz="1300" dirty="0"/>
          </a:p>
        </p:txBody>
      </p:sp>
      <p:sp>
        <p:nvSpPr>
          <p:cNvPr id="21" name="GOV card"/>
          <p:cNvSpPr/>
          <p:nvPr/>
        </p:nvSpPr>
        <p:spPr>
          <a:xfrm>
            <a:off x="9005926" y="137160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GOV badge"/>
          <p:cNvSpPr/>
          <p:nvPr/>
        </p:nvSpPr>
        <p:spPr>
          <a:xfrm>
            <a:off x="9280246" y="1645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GOV label"/>
          <p:cNvSpPr txBox="1"/>
          <p:nvPr/>
        </p:nvSpPr>
        <p:spPr>
          <a:xfrm>
            <a:off x="9280246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GOV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80246" y="2514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Governance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Approves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80246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 what a scan may do, see what was excluded and why, audit who ran what.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0246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Sees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Approvals, gaps, audit — read-only elsewhere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</a:rPr>
              <a:t>Assumption in the draft: the primary user is SEC, running scans for app teams (open question Q1).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setting gets exactly one tier</a:t>
            </a:r>
            <a:endParaRPr lang="en-US" sz="3600" dirty="0"/>
          </a:p>
        </p:txBody>
      </p:sp>
      <p:sp>
        <p:nvSpPr>
          <p:cNvPr id="3" name="Tier A card"/>
          <p:cNvSpPr/>
          <p:nvPr/>
        </p:nvSpPr>
        <p:spPr>
          <a:xfrm>
            <a:off x="548640" y="132588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er A badge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ier A label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ask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safe default — the tool refuses to run without it. A wizard step that blocks until answered.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</a:rPr>
              <a:t>e.g.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App URL · dev/test/staging · hosts in scope · login type · which secret holds the test account</a:t>
            </a:r>
            <a:endParaRPr lang="en-US" sz="1300" dirty="0"/>
          </a:p>
        </p:txBody>
      </p:sp>
      <p:sp>
        <p:nvSpPr>
          <p:cNvPr id="9" name="Tier B card"/>
          <p:cNvSpPr/>
          <p:nvPr/>
        </p:nvSpPr>
        <p:spPr>
          <a:xfrm>
            <a:off x="6172200" y="132588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er B badge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er B label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Offer, with a default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860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real choice, but the default suits most apps. Under "Advanced", with the default and its cost shown.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71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</a:rPr>
              <a:t>e.g.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Time limits · request rate · DOM-XSS pass · API spec · exploration limits</a:t>
            </a:r>
            <a:endParaRPr lang="en-US" sz="1300" dirty="0"/>
          </a:p>
        </p:txBody>
      </p:sp>
      <p:sp>
        <p:nvSpPr>
          <p:cNvPr id="15" name="Tier C card"/>
          <p:cNvSpPr/>
          <p:nvPr/>
        </p:nvSpPr>
        <p:spPr>
          <a:xfrm>
            <a:off x="548640" y="388620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ier C badge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ier C label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605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Approval, not a setting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463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Needs deciding, but not by the person running the scan. Shown read-only with who approved it and when.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321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</a:rPr>
              <a:t>e.g.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Forms that change data · "data is disposable" · rules switched off · fail threshold · AI provider</a:t>
            </a:r>
            <a:endParaRPr lang="en-US" sz="1300" dirty="0"/>
          </a:p>
        </p:txBody>
      </p:sp>
      <p:sp>
        <p:nvSpPr>
          <p:cNvPr id="21" name="Tier D card"/>
          <p:cNvSpPr/>
          <p:nvPr/>
        </p:nvSpPr>
        <p:spPr>
          <a:xfrm>
            <a:off x="6172200" y="388620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er D badge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ier D label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1605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an option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8463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fixed guardrail, something the tool works out, or an installation setting set once by OPS.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5321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</a:rPr>
              <a:t>e.g.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Production refused · ZAP key · login selectors · Artifactory and CA bundle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sorting the settings revealed</a:t>
            </a:r>
            <a:endParaRPr lang="en-US" sz="3600" dirty="0"/>
          </a:p>
        </p:txBody>
      </p:sp>
      <p:sp>
        <p:nvSpPr>
          <p:cNvPr id="3" name="Insight 1 badg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nsight 1 label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hardest part shouldn't be a question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Login selectors and the "signed-in" proof make onboarding hard today. dast onboard --discover already proposes and verifies them — the UI asks one yes/no question instead.</a:t>
            </a:r>
            <a:endParaRPr lang="en-US" sz="1500" dirty="0"/>
          </a:p>
        </p:txBody>
      </p:sp>
      <p:sp>
        <p:nvSpPr>
          <p:cNvPr id="6" name="Insight 2 badge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nsight 2 label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About 25 settings belong to installation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Package mirror, CA bundle, images, Copilot path: OPS sets them once. Kept out of the run flow, they stop crowding every screen.</a:t>
            </a:r>
            <a:endParaRPr lang="en-US" sz="1500" dirty="0"/>
          </a:p>
        </p:txBody>
      </p:sp>
      <p:sp>
        <p:nvSpPr>
          <p:cNvPr id="9" name="Insight 3 badge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nsight 3 label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7033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"AI on" means "stop if the AI is unavailable"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A silent fallback would make a deterministic run look AI-driven. In the UI, --require-llm is not an option — it's how AI mode works.</a:t>
            </a:r>
            <a:endParaRPr lang="en-US" sz="1500" dirty="0"/>
          </a:p>
        </p:txBody>
      </p:sp>
      <p:sp>
        <p:nvSpPr>
          <p:cNvPr id="12" name="Insight 4 badge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nsight 4 label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920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fail threshold belongs to Governance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The person whose scan is gated shouldn't be the one lowering the bar.</a:t>
            </a:r>
            <a:endParaRPr lang="en-US" sz="1500" dirty="0"/>
          </a:p>
        </p:txBody>
      </p:sp>
      <p:sp>
        <p:nvSpPr>
          <p:cNvPr id="15" name="Requirements count card"/>
          <p:cNvSpPr/>
          <p:nvPr/>
        </p:nvSpPr>
        <p:spPr>
          <a:xfrm>
            <a:off x="8412480" y="1325880"/>
            <a:ext cx="3200400" cy="466344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D3DC"/>
                </a:solidFill>
              </a:rPr>
              <a:t>functional requirements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D3DC"/>
                </a:solidFill>
              </a:rPr>
              <a:t>11 must · 4 should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3429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4343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D3DC"/>
                </a:solidFill>
              </a:rPr>
              <a:t>non-functional, e.g. loopback only, secrets by reference, validation in the core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Five open questions shape the design</a:t>
            </a:r>
            <a:endParaRPr lang="en-US" sz="3600" dirty="0"/>
          </a:p>
        </p:txBody>
      </p:sp>
      <p:sp>
        <p:nvSpPr>
          <p:cNvPr id="3" name="Q1 highlight"/>
          <p:cNvSpPr/>
          <p:nvPr/>
        </p:nvSpPr>
        <p:spPr>
          <a:xfrm>
            <a:off x="411480" y="1170432"/>
            <a:ext cx="11338560" cy="914400"/>
          </a:xfrm>
          <a:prstGeom prst="roundRect">
            <a:avLst>
              <a:gd name="adj" fmla="val 12000"/>
            </a:avLst>
          </a:prstGeom>
          <a:solidFill>
            <a:srgbClr val="E2F1EE"/>
          </a:solidFill>
          <a:ln w="12700">
            <a:solidFill>
              <a:srgbClr val="E2F1EE"/>
            </a:solidFill>
            <a:prstDash val="solid"/>
          </a:ln>
        </p:spPr>
      </p:sp>
      <p:sp>
        <p:nvSpPr>
          <p:cNvPr id="4" name="Q1 badge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Q1 label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280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the primary user?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2801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 operating for app teams, or app teams self-serving. This decides which style fits.</a:t>
            </a:r>
            <a:endParaRPr lang="en-US" sz="1500" dirty="0"/>
          </a:p>
        </p:txBody>
      </p:sp>
      <p:sp>
        <p:nvSpPr>
          <p:cNvPr id="8" name="Q2 badge"/>
          <p:cNvSpPr/>
          <p:nvPr/>
        </p:nvSpPr>
        <p:spPr>
          <a:xfrm>
            <a:off x="548640" y="22402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Q2 label"/>
          <p:cNvSpPr txBox="1"/>
          <p:nvPr/>
        </p:nvSpPr>
        <p:spPr>
          <a:xfrm>
            <a:off x="54864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40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tool or shared service?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2402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A shared service needs its own login, roles and secret store — a much larger project.</a:t>
            </a:r>
            <a:endParaRPr lang="en-US" sz="1500" dirty="0"/>
          </a:p>
        </p:txBody>
      </p:sp>
      <p:sp>
        <p:nvSpPr>
          <p:cNvPr id="12" name="Q3 badge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Q3 label"/>
          <p:cNvSpPr txBox="1"/>
          <p:nvPr/>
        </p:nvSpPr>
        <p:spPr>
          <a:xfrm>
            <a:off x="54864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00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approvals happen?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2004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Recommended: pull-request review of app.yaml, with GOV as code owners.</a:t>
            </a:r>
            <a:endParaRPr lang="en-US" sz="1500" dirty="0"/>
          </a:p>
        </p:txBody>
      </p:sp>
      <p:sp>
        <p:nvSpPr>
          <p:cNvPr id="16" name="Q4 badge"/>
          <p:cNvSpPr/>
          <p:nvPr/>
        </p:nvSpPr>
        <p:spPr>
          <a:xfrm>
            <a:off x="548640" y="41605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Q4 label"/>
          <p:cNvSpPr txBox="1"/>
          <p:nvPr/>
        </p:nvSpPr>
        <p:spPr>
          <a:xfrm>
            <a:off x="54864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60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DEV use the UI at all?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160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Recommended: GitHub stays their home; the UI serves the finding detail and triage.</a:t>
            </a:r>
            <a:endParaRPr lang="en-US" sz="1500" dirty="0"/>
          </a:p>
        </p:txBody>
      </p:sp>
      <p:sp>
        <p:nvSpPr>
          <p:cNvPr id="20" name="Q5 badge"/>
          <p:cNvSpPr/>
          <p:nvPr/>
        </p:nvSpPr>
        <p:spPr>
          <a:xfrm>
            <a:off x="548640" y="51206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Q5 label"/>
          <p:cNvSpPr txBox="1"/>
          <p:nvPr/>
        </p:nvSpPr>
        <p:spPr>
          <a:xfrm>
            <a:off x="54864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120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settings are approvals?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1206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Depends on W4-8 (write endpoints) and scan postures SP-1…SP-7, not yet decided.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directions, the same seven screens</a:t>
            </a:r>
            <a:endParaRPr lang="en-US" sz="3600" dirty="0"/>
          </a:p>
        </p:txBody>
      </p:sp>
      <p:sp>
        <p:nvSpPr>
          <p:cNvPr id="3" name="Style 1 thumbnail frame"/>
          <p:cNvSpPr/>
          <p:nvPr/>
        </p:nvSpPr>
        <p:spPr>
          <a:xfrm>
            <a:off x="2400300" y="1243584"/>
            <a:ext cx="2926080" cy="185623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Style 1 thumbnail" descr="Style 1 thumb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76" y="1280160"/>
            <a:ext cx="2852928" cy="1783080"/>
          </a:xfrm>
          <a:prstGeom prst="rect">
            <a:avLst/>
          </a:prstGeom>
        </p:spPr>
      </p:pic>
      <p:sp>
        <p:nvSpPr>
          <p:cNvPr id="5" name="Style 2 thumbnail frame"/>
          <p:cNvSpPr/>
          <p:nvPr/>
        </p:nvSpPr>
        <p:spPr>
          <a:xfrm>
            <a:off x="5693320" y="1243584"/>
            <a:ext cx="2557960" cy="185623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6" name="Style 2 thumbnail" descr="Style 2 thumb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896" y="1280160"/>
            <a:ext cx="2484808" cy="1783080"/>
          </a:xfrm>
          <a:prstGeom prst="rect">
            <a:avLst/>
          </a:prstGeom>
        </p:spPr>
      </p:pic>
      <p:sp>
        <p:nvSpPr>
          <p:cNvPr id="7" name="Style 3 thumbnail frame"/>
          <p:cNvSpPr/>
          <p:nvPr/>
        </p:nvSpPr>
        <p:spPr>
          <a:xfrm>
            <a:off x="9115536" y="1243584"/>
            <a:ext cx="1931449" cy="185623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8" name="Style 3 thumbnail" descr="Style 3 thumbn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112" y="1280160"/>
            <a:ext cx="1858297" cy="17830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· Operator console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· Enterprise workspace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· Guided flow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6B7A"/>
                          </a:solidFill>
                        </a:rPr>
                        <a:t>Feel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Dark, dense, keyboard-driven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Light, calm, card-based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task at a time, plain language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6B7A"/>
                          </a:solidFill>
                        </a:rPr>
                        <a:t>Tiers show as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Badges: MUST · OPT · APPROVAL · FIXED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Card bands: Required · Optional · Needs approval · Always 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Sentences: "We need this from you"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6B7A"/>
                          </a:solidFill>
                        </a:rPr>
                        <a:t>Fits best if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 runs scans for app teams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teams use it occasionally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 teams run scans themselves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Style 1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Operator console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Dark, dense and keyboard-driven. Every control carries a tier badge.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Fits best if security engineers run scans for app teams.</a:t>
            </a:r>
            <a:endParaRPr lang="en-US" sz="1800" dirty="0"/>
          </a:p>
        </p:txBody>
      </p:sp>
      <p:sp>
        <p:nvSpPr>
          <p:cNvPr id="4" name="Style 1 — Operator console overview frame"/>
          <p:cNvSpPr/>
          <p:nvPr/>
        </p:nvSpPr>
        <p:spPr>
          <a:xfrm>
            <a:off x="6272784" y="1720787"/>
            <a:ext cx="5422392" cy="341642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overview" descr="Style 1 — Operator consol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57363"/>
            <a:ext cx="5349240" cy="33432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Overview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Where each persona starts: recent runs, what's waiting, and the four tiers explained.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—</a:t>
            </a:r>
            <a:endParaRPr lang="en-US" sz="1400" dirty="0"/>
          </a:p>
        </p:txBody>
      </p:sp>
      <p:sp>
        <p:nvSpPr>
          <p:cNvPr id="4" name="Style 1 — Operator console Overview frame"/>
          <p:cNvSpPr/>
          <p:nvPr/>
        </p:nvSpPr>
        <p:spPr>
          <a:xfrm>
            <a:off x="3895344" y="1303592"/>
            <a:ext cx="7781544" cy="489089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Overview" descr="Style 1 — Operator consol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40168"/>
            <a:ext cx="7708392" cy="48177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Onboard an app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the must-ask questions. The tool reads the login page, signs in with the test account, and asks one thing: does this page only show when you're signed in?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UI-3, 4, 5</a:t>
            </a:r>
            <a:endParaRPr lang="en-US" sz="1400" dirty="0"/>
          </a:p>
        </p:txBody>
      </p:sp>
      <p:sp>
        <p:nvSpPr>
          <p:cNvPr id="4" name="Style 1 — Operator console Onboard an app frame"/>
          <p:cNvSpPr/>
          <p:nvPr/>
        </p:nvSpPr>
        <p:spPr>
          <a:xfrm>
            <a:off x="3895344" y="1303592"/>
            <a:ext cx="7781544" cy="489089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Onboard an app" descr="Style 1 — Operator console Onboard an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40168"/>
            <a:ext cx="7708392" cy="48177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App settings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four tiers on one page: required answers, optional settings with their cost, approvals read-only with who decided, and the safety rules. Changes show as a diff before saving.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UI-1, 2, 6, 15</a:t>
            </a:r>
            <a:endParaRPr lang="en-US" sz="1400" dirty="0"/>
          </a:p>
        </p:txBody>
      </p:sp>
      <p:sp>
        <p:nvSpPr>
          <p:cNvPr id="4" name="Style 1 — Operator console App settings frame"/>
          <p:cNvSpPr/>
          <p:nvPr/>
        </p:nvSpPr>
        <p:spPr>
          <a:xfrm>
            <a:off x="5000577" y="1289304"/>
            <a:ext cx="5571078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App settings" descr="Style 1 — Operator console App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7153" y="1325880"/>
            <a:ext cx="5497926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Run progress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Five live stages, session health, and a safe stop that never marks untested pages as fixed. A refusal is explained in one sentence, with the fix.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UI-7, 8</a:t>
            </a:r>
            <a:endParaRPr lang="en-US" sz="1400" dirty="0"/>
          </a:p>
        </p:txBody>
      </p:sp>
      <p:sp>
        <p:nvSpPr>
          <p:cNvPr id="4" name="Style 1 — Operator console Run progress frame"/>
          <p:cNvSpPr/>
          <p:nvPr/>
        </p:nvSpPr>
        <p:spPr>
          <a:xfrm>
            <a:off x="3895344" y="1303592"/>
            <a:ext cx="7781544" cy="489089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Run progress" descr="Style 1 — Operator console Run prog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40168"/>
            <a:ext cx="7708392" cy="48177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Results and triage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 · DEV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Coverage with a denominator, one SQL injection explained end to end, triage that needs a reason and an expiry, and publishing blocked until the deployed commit is known.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UI-9 to 12</a:t>
            </a:r>
            <a:endParaRPr lang="en-US" sz="1400" dirty="0"/>
          </a:p>
        </p:txBody>
      </p:sp>
      <p:sp>
        <p:nvSpPr>
          <p:cNvPr id="4" name="Style 1 — Operator console Results and triage frame"/>
          <p:cNvSpPr/>
          <p:nvPr/>
        </p:nvSpPr>
        <p:spPr>
          <a:xfrm>
            <a:off x="4315140" y="1289304"/>
            <a:ext cx="6941952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Results and triage" descr="Style 1 — Operator console Results and tri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1716" y="1325880"/>
            <a:ext cx="686880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Governance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GOV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Pending approvals as pull requests, what scans deliberately don't test, the environment registry and the audit trail.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UI-13</a:t>
            </a:r>
            <a:endParaRPr lang="en-US" sz="1400" dirty="0"/>
          </a:p>
        </p:txBody>
      </p:sp>
      <p:sp>
        <p:nvSpPr>
          <p:cNvPr id="4" name="Style 1 — Operator console Governance frame"/>
          <p:cNvSpPr/>
          <p:nvPr/>
        </p:nvSpPr>
        <p:spPr>
          <a:xfrm>
            <a:off x="3895344" y="1303592"/>
            <a:ext cx="7781544" cy="489089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Governance" descr="Style 1 — Operator console Govern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40168"/>
            <a:ext cx="7708392" cy="48177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1 · Export to CI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ready workflow for the app's repository, what each result means, and installation settings kept out of the run flow.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UI-14</a:t>
            </a:r>
            <a:endParaRPr lang="en-US" sz="1400" dirty="0"/>
          </a:p>
        </p:txBody>
      </p:sp>
      <p:sp>
        <p:nvSpPr>
          <p:cNvPr id="4" name="Style 1 — Operator console Export to CI frame"/>
          <p:cNvSpPr/>
          <p:nvPr/>
        </p:nvSpPr>
        <p:spPr>
          <a:xfrm>
            <a:off x="3895344" y="1303592"/>
            <a:ext cx="7781544" cy="489089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1 — Operator console Export to CI" descr="Style 1 — Operator console Export to 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40168"/>
            <a:ext cx="7708392" cy="48177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Style 2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Enterprise workspace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Light and card-based, with top navigation and a "what this means" help panel.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Fits best if many teams use it occasionally.</a:t>
            </a:r>
            <a:endParaRPr lang="en-US" sz="1800" dirty="0"/>
          </a:p>
        </p:txBody>
      </p:sp>
      <p:sp>
        <p:nvSpPr>
          <p:cNvPr id="4" name="Style 2 — Enterprise workspace overview frame"/>
          <p:cNvSpPr/>
          <p:nvPr/>
        </p:nvSpPr>
        <p:spPr>
          <a:xfrm>
            <a:off x="6272784" y="1473137"/>
            <a:ext cx="5422392" cy="391172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overview" descr="Style 2 — Enterprise workspac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09713"/>
            <a:ext cx="5349240" cy="38385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Overview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Where each persona starts: recent runs, what's waiting, and the four tiers explained.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—</a:t>
            </a:r>
            <a:endParaRPr lang="en-US" sz="1400" dirty="0"/>
          </a:p>
        </p:txBody>
      </p:sp>
      <p:sp>
        <p:nvSpPr>
          <p:cNvPr id="4" name="Style 2 — Enterprise workspace Overview frame"/>
          <p:cNvSpPr/>
          <p:nvPr/>
        </p:nvSpPr>
        <p:spPr>
          <a:xfrm>
            <a:off x="4372749" y="1289304"/>
            <a:ext cx="6826733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Overview" descr="Style 2 — Enterprise workspac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9325" y="1325880"/>
            <a:ext cx="6753581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Onboard an app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the must-ask questions. The tool reads the login page, signs in with the test account, and asks one thing: does this page only show when you're signed in?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UI-3, 4, 5</a:t>
            </a:r>
            <a:endParaRPr lang="en-US" sz="1400" dirty="0"/>
          </a:p>
        </p:txBody>
      </p:sp>
      <p:sp>
        <p:nvSpPr>
          <p:cNvPr id="4" name="Style 2 — Enterprise workspace Onboard an app frame"/>
          <p:cNvSpPr/>
          <p:nvPr/>
        </p:nvSpPr>
        <p:spPr>
          <a:xfrm>
            <a:off x="4949098" y="1289304"/>
            <a:ext cx="5674035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Onboard an app" descr="Style 2 — Enterprise workspace Onboard an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5674" y="1325880"/>
            <a:ext cx="560088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App settings (1 of 2)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four tiers on one page: required answers, optional settings with their cost, approvals read-only with who decided, and the safety rules. Changes show as a diff before saving.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UI-1, 2, 6, 15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Part 1 of 2 of a long page.</a:t>
            </a:r>
            <a:endParaRPr lang="en-US" sz="1400" dirty="0"/>
          </a:p>
        </p:txBody>
      </p:sp>
      <p:sp>
        <p:nvSpPr>
          <p:cNvPr id="4" name="Style 2 — Enterprise workspace App settings (1 of 2) frame"/>
          <p:cNvSpPr/>
          <p:nvPr/>
        </p:nvSpPr>
        <p:spPr>
          <a:xfrm>
            <a:off x="3895344" y="1753248"/>
            <a:ext cx="7781544" cy="3991585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App settings (1 of 2)" descr="Style 2 — Enterprise workspace App settings (1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789824"/>
            <a:ext cx="7708392" cy="39184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App settings (2 of 2)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four tiers on one page: required answers, optional settings with their cost, approvals read-only with who decided, and the safety rules. Changes show as a diff before saving.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UI-1, 2, 6, 15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Part 2 of 2 of a long page.</a:t>
            </a:r>
            <a:endParaRPr lang="en-US" sz="1400" dirty="0"/>
          </a:p>
        </p:txBody>
      </p:sp>
      <p:sp>
        <p:nvSpPr>
          <p:cNvPr id="4" name="Style 2 — Enterprise workspace App settings (2 of 2) frame"/>
          <p:cNvSpPr/>
          <p:nvPr/>
        </p:nvSpPr>
        <p:spPr>
          <a:xfrm>
            <a:off x="4912670" y="1289304"/>
            <a:ext cx="5746892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App settings (2 of 2)" descr="Style 2 — Enterprise workspace App settings (2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9246" y="1325880"/>
            <a:ext cx="567374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Run progress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Five live stages, session health, and a safe stop that never marks untested pages as fixed. A refusal is explained in one sentence, with the fix.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UI-7, 8</a:t>
            </a:r>
            <a:endParaRPr lang="en-US" sz="1400" dirty="0"/>
          </a:p>
        </p:txBody>
      </p:sp>
      <p:sp>
        <p:nvSpPr>
          <p:cNvPr id="4" name="Style 2 — Enterprise workspace Run progress frame"/>
          <p:cNvSpPr/>
          <p:nvPr/>
        </p:nvSpPr>
        <p:spPr>
          <a:xfrm>
            <a:off x="4217809" y="1289304"/>
            <a:ext cx="7136614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Run progress" descr="Style 2 — Enterprise workspace Run prog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385" y="1325880"/>
            <a:ext cx="7063462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Results and triage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 · DEV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Coverage with a denominator, one SQL injection explained end to end, triage that needs a reason and an expiry, and publishing blocked until the deployed commit is known.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UI-9 to 12</a:t>
            </a:r>
            <a:endParaRPr lang="en-US" sz="1400" dirty="0"/>
          </a:p>
        </p:txBody>
      </p:sp>
      <p:sp>
        <p:nvSpPr>
          <p:cNvPr id="4" name="Style 2 — Enterprise workspace Results and triage frame"/>
          <p:cNvSpPr/>
          <p:nvPr/>
        </p:nvSpPr>
        <p:spPr>
          <a:xfrm>
            <a:off x="4762082" y="1289304"/>
            <a:ext cx="6048067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Results and triage" descr="Style 2 — Enterprise workspace Results and tri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8658" y="1325880"/>
            <a:ext cx="5974915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Governance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GOV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Pending approvals as pull requests, what scans deliberately don't test, the environment registry and the audit trail.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UI-13</a:t>
            </a:r>
            <a:endParaRPr lang="en-US" sz="1400" dirty="0"/>
          </a:p>
        </p:txBody>
      </p:sp>
      <p:sp>
        <p:nvSpPr>
          <p:cNvPr id="4" name="Style 2 — Enterprise workspace Governance frame"/>
          <p:cNvSpPr/>
          <p:nvPr/>
        </p:nvSpPr>
        <p:spPr>
          <a:xfrm>
            <a:off x="4958060" y="1289304"/>
            <a:ext cx="5656113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Governance" descr="Style 2 — Enterprise workspace Govern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4636" y="1325880"/>
            <a:ext cx="5582961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2 · Export to CI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ready workflow for the app's repository, what each result means, and installation settings kept out of the run flow.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UI-14</a:t>
            </a:r>
            <a:endParaRPr lang="en-US" sz="1400" dirty="0"/>
          </a:p>
        </p:txBody>
      </p:sp>
      <p:sp>
        <p:nvSpPr>
          <p:cNvPr id="4" name="Style 2 — Enterprise workspace Export to CI frame"/>
          <p:cNvSpPr/>
          <p:nvPr/>
        </p:nvSpPr>
        <p:spPr>
          <a:xfrm>
            <a:off x="3940206" y="1289304"/>
            <a:ext cx="7691821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2 — Enterprise workspace Export to CI" descr="Style 2 — Enterprise workspace Export to 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6782" y="1325880"/>
            <a:ext cx="7618669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Style 3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Guided flow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One task at a time, large type, plain language. Tiers explained in sentences.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Fits best if app teams run scans themselves.</a:t>
            </a:r>
            <a:endParaRPr lang="en-US" sz="1800" dirty="0"/>
          </a:p>
        </p:txBody>
      </p:sp>
      <p:sp>
        <p:nvSpPr>
          <p:cNvPr id="4" name="Style 3 — Guided flow overview top frame"/>
          <p:cNvSpPr/>
          <p:nvPr/>
        </p:nvSpPr>
        <p:spPr>
          <a:xfrm>
            <a:off x="6272784" y="786384"/>
            <a:ext cx="2610612" cy="2507905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overview top" descr="Style 3 — Guided flow overview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822960"/>
            <a:ext cx="2537460" cy="2434753"/>
          </a:xfrm>
          <a:prstGeom prst="rect">
            <a:avLst/>
          </a:prstGeom>
        </p:spPr>
      </p:pic>
      <p:sp>
        <p:nvSpPr>
          <p:cNvPr id="6" name="Style 3 — Guided flow overview bottom frame"/>
          <p:cNvSpPr/>
          <p:nvPr/>
        </p:nvSpPr>
        <p:spPr>
          <a:xfrm>
            <a:off x="9084564" y="786384"/>
            <a:ext cx="2610612" cy="23911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overview bottom" descr="Style 3 — Guided flow overview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140" y="822960"/>
            <a:ext cx="2537460" cy="23179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Overview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Where each persona starts: recent runs, what's waiting, and the four tiers explained.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—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Overview top frame"/>
          <p:cNvSpPr/>
          <p:nvPr/>
        </p:nvSpPr>
        <p:spPr>
          <a:xfrm>
            <a:off x="3895344" y="1289304"/>
            <a:ext cx="3790188" cy="363973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Overview top" descr="Style 3 — Guided flow Overview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3717036" cy="3566585"/>
          </a:xfrm>
          <a:prstGeom prst="rect">
            <a:avLst/>
          </a:prstGeom>
        </p:spPr>
      </p:pic>
      <p:sp>
        <p:nvSpPr>
          <p:cNvPr id="6" name="Style 3 — Guided flow Overview bottom frame"/>
          <p:cNvSpPr/>
          <p:nvPr/>
        </p:nvSpPr>
        <p:spPr>
          <a:xfrm>
            <a:off x="7886700" y="1289304"/>
            <a:ext cx="3790188" cy="3468635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Overview bottom" descr="Style 3 — Guided flow Overview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717036" cy="339548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Onboard an app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the must-ask questions. The tool reads the login page, signs in with the test account, and asks one thing: does this page only show when you're signed in?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UI-3, 4, 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Onboard an app top frame"/>
          <p:cNvSpPr/>
          <p:nvPr/>
        </p:nvSpPr>
        <p:spPr>
          <a:xfrm>
            <a:off x="3895344" y="1289304"/>
            <a:ext cx="3790188" cy="3524685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Onboard an app top" descr="Style 3 — Guided flow Onboard an app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3717036" cy="3451533"/>
          </a:xfrm>
          <a:prstGeom prst="rect">
            <a:avLst/>
          </a:prstGeom>
        </p:spPr>
      </p:pic>
      <p:sp>
        <p:nvSpPr>
          <p:cNvPr id="6" name="Style 3 — Guided flow Onboard an app bottom frame"/>
          <p:cNvSpPr/>
          <p:nvPr/>
        </p:nvSpPr>
        <p:spPr>
          <a:xfrm>
            <a:off x="7886700" y="1289304"/>
            <a:ext cx="3790188" cy="3769538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Onboard an app bottom" descr="Style 3 — Guided flow Onboard an app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717036" cy="36963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App settings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four tiers on one page: required answers, optional settings with their cost, approvals read-only with who decided, and the safety rules. Changes show as a diff before saving.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UI-1, 2, 6, 15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App settings top frame"/>
          <p:cNvSpPr/>
          <p:nvPr/>
        </p:nvSpPr>
        <p:spPr>
          <a:xfrm>
            <a:off x="4154643" y="1289304"/>
            <a:ext cx="3530889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App settings top" descr="Style 3 — Guided flow App settings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219" y="1325880"/>
            <a:ext cx="3457737" cy="4846320"/>
          </a:xfrm>
          <a:prstGeom prst="rect">
            <a:avLst/>
          </a:prstGeom>
        </p:spPr>
      </p:pic>
      <p:sp>
        <p:nvSpPr>
          <p:cNvPr id="6" name="Style 3 — Guided flow App settings bottom frame"/>
          <p:cNvSpPr/>
          <p:nvPr/>
        </p:nvSpPr>
        <p:spPr>
          <a:xfrm>
            <a:off x="7886700" y="1289304"/>
            <a:ext cx="3530889" cy="4008386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App settings bottom" descr="Style 3 — Guided flow App settings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457737" cy="39352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Run progress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Five live stages, session health, and a safe stop that never marks untested pages as fixed. A refusal is explained in one sentence, with the fix.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UI-7, 8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Run progress top frame"/>
          <p:cNvSpPr/>
          <p:nvPr/>
        </p:nvSpPr>
        <p:spPr>
          <a:xfrm>
            <a:off x="3895344" y="1289304"/>
            <a:ext cx="3790188" cy="368398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Run progress top" descr="Style 3 — Guided flow Run progress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3717036" cy="3610835"/>
          </a:xfrm>
          <a:prstGeom prst="rect">
            <a:avLst/>
          </a:prstGeom>
        </p:spPr>
      </p:pic>
      <p:sp>
        <p:nvSpPr>
          <p:cNvPr id="6" name="Style 3 — Guided flow Run progress bottom frame"/>
          <p:cNvSpPr/>
          <p:nvPr/>
        </p:nvSpPr>
        <p:spPr>
          <a:xfrm>
            <a:off x="7886700" y="1289304"/>
            <a:ext cx="3790188" cy="315003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Run progress bottom" descr="Style 3 — Guided flow Run progress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717036" cy="3076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Results and triage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 · DEV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Coverage with a denominator, one SQL injection explained end to end, triage that needs a reason and an expiry, and publishing blocked until the deployed commit is known.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UI-9 to 12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Results and triage top frame"/>
          <p:cNvSpPr/>
          <p:nvPr/>
        </p:nvSpPr>
        <p:spPr>
          <a:xfrm>
            <a:off x="3938275" y="1289304"/>
            <a:ext cx="3747257" cy="4916556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Results and triage top" descr="Style 3 — Guided flow Results and triage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4851" y="1325880"/>
            <a:ext cx="3674105" cy="4843404"/>
          </a:xfrm>
          <a:prstGeom prst="rect">
            <a:avLst/>
          </a:prstGeom>
        </p:spPr>
      </p:pic>
      <p:sp>
        <p:nvSpPr>
          <p:cNvPr id="6" name="Style 3 — Guided flow Results and triage bottom frame"/>
          <p:cNvSpPr/>
          <p:nvPr/>
        </p:nvSpPr>
        <p:spPr>
          <a:xfrm>
            <a:off x="7886700" y="1289304"/>
            <a:ext cx="3747257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Results and triage bottom" descr="Style 3 — Guided flow Results and triage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674105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Governance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GOV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Pending approvals as pull requests, what scans deliberately don't test, the environment registry and the audit trail.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UI-13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Governance top frame"/>
          <p:cNvSpPr/>
          <p:nvPr/>
        </p:nvSpPr>
        <p:spPr>
          <a:xfrm>
            <a:off x="3895344" y="1289304"/>
            <a:ext cx="3790188" cy="371938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Governance top" descr="Style 3 — Guided flow Governance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25880"/>
            <a:ext cx="3717036" cy="3646235"/>
          </a:xfrm>
          <a:prstGeom prst="rect">
            <a:avLst/>
          </a:prstGeom>
        </p:spPr>
      </p:pic>
      <p:sp>
        <p:nvSpPr>
          <p:cNvPr id="6" name="Style 3 — Guided flow Governance bottom frame"/>
          <p:cNvSpPr/>
          <p:nvPr/>
        </p:nvSpPr>
        <p:spPr>
          <a:xfrm>
            <a:off x="7886700" y="1289304"/>
            <a:ext cx="3790188" cy="3229683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Governance bottom" descr="Style 3 — Guided flow Governance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717036" cy="3156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Style 3 · Export to CI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ready workflow for the app's repository, what each result means, and installation settings kept out of the run flow.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Requirements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UI-14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5F6B7A"/>
                </a:solidFill>
              </a:rPr>
              <a:t>The page is shown in two halves, top on the left.</a:t>
            </a:r>
            <a:endParaRPr lang="en-US" sz="1400" dirty="0"/>
          </a:p>
        </p:txBody>
      </p:sp>
      <p:sp>
        <p:nvSpPr>
          <p:cNvPr id="4" name="Style 3 — Guided flow Export to CI top frame"/>
          <p:cNvSpPr/>
          <p:nvPr/>
        </p:nvSpPr>
        <p:spPr>
          <a:xfrm>
            <a:off x="4007679" y="1289304"/>
            <a:ext cx="3677853" cy="439021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Style 3 — Guided flow Export to CI top" descr="Style 3 — Guided flow Export to CI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255" y="1325880"/>
            <a:ext cx="3604701" cy="4317058"/>
          </a:xfrm>
          <a:prstGeom prst="rect">
            <a:avLst/>
          </a:prstGeom>
        </p:spPr>
      </p:pic>
      <p:sp>
        <p:nvSpPr>
          <p:cNvPr id="6" name="Style 3 — Guided flow Export to CI bottom frame"/>
          <p:cNvSpPr/>
          <p:nvPr/>
        </p:nvSpPr>
        <p:spPr>
          <a:xfrm>
            <a:off x="7886700" y="1289304"/>
            <a:ext cx="3677853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Style 3 — Guided flow Export to CI bottom" descr="Style 3 — Guided flow Export to CI bot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1325880"/>
            <a:ext cx="3604701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Decision needed: who is the primary user?</a:t>
            </a:r>
            <a:endParaRPr lang="en-US" sz="3600" dirty="0"/>
          </a:p>
        </p:txBody>
      </p:sp>
      <p:sp>
        <p:nvSpPr>
          <p:cNvPr id="3" name="Option 1"/>
          <p:cNvSpPr/>
          <p:nvPr/>
        </p:nvSpPr>
        <p:spPr>
          <a:xfrm>
            <a:off x="54864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If the answer 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engineers run scans for app teams</a:t>
            </a:r>
            <a:endParaRPr lang="en-US" sz="1800" dirty="0"/>
          </a:p>
        </p:txBody>
      </p:sp>
      <p:sp>
        <p:nvSpPr>
          <p:cNvPr id="6" name="Style 1 badge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yle 1 label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Style 1 · Operator console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Dense, fast, every tier visible as a badge.</a:t>
            </a:r>
            <a:endParaRPr lang="en-US" sz="1400" dirty="0"/>
          </a:p>
        </p:txBody>
      </p:sp>
      <p:sp>
        <p:nvSpPr>
          <p:cNvPr id="9" name="Option 2"/>
          <p:cNvSpPr/>
          <p:nvPr/>
        </p:nvSpPr>
        <p:spPr>
          <a:xfrm>
            <a:off x="429768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If the answer 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965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 of teams, using it occasionally</a:t>
            </a:r>
            <a:endParaRPr lang="en-US" sz="1800" dirty="0"/>
          </a:p>
        </p:txBody>
      </p:sp>
      <p:sp>
        <p:nvSpPr>
          <p:cNvPr id="12" name="Style 2 badge"/>
          <p:cNvSpPr/>
          <p:nvPr/>
        </p:nvSpPr>
        <p:spPr>
          <a:xfrm>
            <a:off x="457200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yle 2 label"/>
          <p:cNvSpPr txBox="1"/>
          <p:nvPr/>
        </p:nvSpPr>
        <p:spPr>
          <a:xfrm>
            <a:off x="45720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Style 2 · Enterprise workspace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Calm cards, a help panel, readable by approvers and developers.</a:t>
            </a:r>
            <a:endParaRPr lang="en-US" sz="1400" dirty="0"/>
          </a:p>
        </p:txBody>
      </p:sp>
      <p:sp>
        <p:nvSpPr>
          <p:cNvPr id="15" name="Option 3"/>
          <p:cNvSpPr/>
          <p:nvPr/>
        </p:nvSpPr>
        <p:spPr>
          <a:xfrm>
            <a:off x="804672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If the answer is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1965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teams run scans themselves</a:t>
            </a:r>
            <a:endParaRPr lang="en-US" sz="1800" dirty="0"/>
          </a:p>
        </p:txBody>
      </p:sp>
      <p:sp>
        <p:nvSpPr>
          <p:cNvPr id="18" name="Style 3 badge"/>
          <p:cNvSpPr/>
          <p:nvPr/>
        </p:nvSpPr>
        <p:spPr>
          <a:xfrm>
            <a:off x="832104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yle 3 label"/>
          <p:cNvSpPr txBox="1"/>
          <p:nvPr/>
        </p:nvSpPr>
        <p:spPr>
          <a:xfrm>
            <a:off x="83210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Style 3 · Guided 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One question at a time; tiers become plain sentences.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Q2–Q4, settle W4-8 and the scan postures, and refine the chosen style against those answers. Mockups and requirements live in docs/ui-docs/.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T UI">
  <a:themeElements>
    <a:clrScheme name="DAST UI">
      <a:dk1>
        <a:srgbClr val="1B2533"/>
      </a:dk1>
      <a:lt1>
        <a:srgbClr val="FFFFFF"/>
      </a:lt1>
      <a:dk2>
        <a:srgbClr val="0F2A3A"/>
      </a:dk2>
      <a:lt2>
        <a:srgbClr val="F1F4F7"/>
      </a:lt2>
      <a:accent1>
        <a:srgbClr val="0F6B62"/>
      </a:accent1>
      <a:accent2>
        <a:srgbClr val="A8650B"/>
      </a:accent2>
      <a:accent3>
        <a:srgbClr val="1F5FBF"/>
      </a:accent3>
      <a:accent4>
        <a:srgbClr val="6D3FC0"/>
      </a:accent4>
      <a:accent5>
        <a:srgbClr val="5F6B7A"/>
      </a:accent5>
      <a:accent6>
        <a:srgbClr val="B42318"/>
      </a:accent6>
      <a:hlink>
        <a:srgbClr val="1F5FBF"/>
      </a:hlink>
      <a:folHlink>
        <a:srgbClr val="6D3FC0"/>
      </a:folHlink>
    </a:clrScheme>
    <a:fontScheme name="DAST U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DAST tool UI — requirements and mockups</dc:title>
  <dc:subject>PptxGenJS Presentation</dc:subject>
  <dc:creator>Security engineering</dc:creator>
  <cp:lastModifiedBy>Security engineering</cp:lastModifiedBy>
  <cp:revision>1</cp:revision>
  <dcterms:created xsi:type="dcterms:W3CDTF">2026-10-21T17:22:28Z</dcterms:created>
  <dcterms:modified xsi:type="dcterms:W3CDTF">2026-10-21T17:22:28Z</dcterms:modified>
</cp:coreProperties>
</file>