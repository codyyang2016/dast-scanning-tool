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5" r:id="rId36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6" r:id="rId37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288e579-509a-488c-869f-030bb966e41b}">
          <p14:sldIdLst>
            <p14:sldId id="256"/>
            <p14:sldId id="257"/>
            <p14:sldId id="258"/>
          </p14:sldIdLst>
        </p14:section>
        <p14:section name="Answers" id="{edbe32ba-15ae-8b36-d361-1fcb45426261}">
          <p14:sldIdLst>
            <p14:sldId id="259"/>
            <p14:sldId id="260"/>
            <p14:sldId id="261"/>
            <p14:sldId id="262"/>
            <p14:sldId id="263"/>
          </p14:sldIdLst>
        </p14:section>
        <p14:section name="Mockup to built" id="{5cd02f27-8f88-fcca-aca5-d9575bb83859}">
          <p14:sldIdLst>
            <p14:sldId id="264"/>
            <p14:sldId id="265"/>
            <p14:sldId id="266"/>
            <p14:sldId id="267"/>
            <p14:sldId id="268"/>
          </p14:sldIdLst>
        </p14:section>
        <p14:section name="New app: DVWA" id="{ba0fbbae-5f0e-b08e-36b5-578327da6330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Trust, quality, next" id="{fe1e1649-51be-7310-90ce-a388b94131e5}">
          <p14:sldIdLst>
            <p14:sldId id="280"/>
            <p14:sldId id="281"/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  <Relationship Id="rId36" Type="http://schemas.openxmlformats.org/officeDocument/2006/relationships/slide" Target="slides/slide30.xml"/>
  <Relationship Id="rId37" Type="http://schemas.openxmlformats.org/officeDocument/2006/relationships/slide" Target="slides/slide31.xml"/>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533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1B2533"/>
                </a:solidFill>
                <a:latin typeface="+mj-lt"/>
              </a:rPr>
              <a:t>High-severity findings per scan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High-severity findings</c:v>
                </c:pt>
              </c:strCache>
            </c:strRef>
          </c:tx>
          <c:spPr>
            <a:solidFill>
              <a:srgbClr val="B4231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5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Scan 1: as discovered</c:v>
                  </c:pt>
                  <c:pt idx="1">
                    <c:v>Scan 2: + difficulty cookie</c:v>
                  </c:pt>
                  <c:pt idx="2">
                    <c:v>Scan 3: + pages with inputs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B25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F5B6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</c:scaling>
        <c:delete val="0"/>
        <c:axPos val="l"/>
        <c:majorGridlines>
          <c:spPr>
            <a:ln w="9525" cap="flat">
              <a:solidFill>
                <a:srgbClr val="E1E6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F5B6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deck asked for decisions on a UI that existed only as three sets of mockups. Every screenshot in this one is the working UI, captured on 22 October; the DVWA screens are from a real onboarding and scan of an app that wasn't configured before the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working day separates the two decks. The PRs: #12 the web UI, #13 evidence redaction, #14 status docs, #15 the QA script and findings, #16 eleven QA fixes and the demo, #17 recording a login from the UI, #18 onboarding discovery through ZAP.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58 seconds is from opening Onboard to a finished first scan on DVWA, including 11 seconds of AI discovery and 14 seconds recording the login. The 5 high findings came from the third scan, after two edits explained on the tuning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Decisions recorded in docs/ui-docs/ui_requirements.md §8 on 21 October.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Q3: tier C settings show who approved and when, read from git blame of app.yaml; QA step G7 checked this against the real configs. Q4's follow-up (importing dismissals made in GitHub) is still to be retired or turned into a proposal.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overview on the right is the demo workspace after the DVWA run: ZAP reachable, the AI provider available, four apps.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were the three rules the last deck set for the UI. The evidence for each is in this deck: the DVWA settings diff on the tuning slide, the command-line panel on every screenshot, and the refusals on the guardrails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were the four findings of the last deck's slide 5. Each is now behaviour you can see in the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Mockups: docs/ui-docs/style-2. They are cropped to the same 16:10 window as the real screenshots.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right, discovery has just found DVWA's login; the person confirms the check and reviews the pages it proposes.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built screenshot is DVWA's third scan, a minute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screens are DVWA results. The mockup grouped by problem with a count; the built page groups copies too (×N) and keeps every finding one click from its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Approvals show 'not committed yet' here because the demo workspace isn't a git repository; against the real configs they show the git author and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0, on the right: the scanner never gets a copy of the app. DVWA is the public vulnerables/web-dvwa image, pinned in compose.yaml and run as a container on the same Docker network as ZAP, which reaches it as http://dvwa. Environment prep, not configuration: DVWA's database was created once (its /setup.php), and DVWA_USER/DVWA_PASS were set in the shell that started the UI. The repository's hand-tuned DVWA config was moved aside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Times are measured by the headless browser that drove the UI. Steps 1-3 total 58 s from opening Onboard to a finished first scan; the whole first pass including triage, publish preview, workflow and governance took 86 s. The setup on the two slides before is not timed. Step 4 is on the next-but-four slide, “5 · Two edits”.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asked for three things; step 2 pre-filled the boundary from the address. Everything else the tool works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Discovery going through ZAP is the QA-14 fix (PR #18): DVWA lives only on ZAP's network, so before the fix discovery couldn't reach it from the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banner disappears once the login is recorded. SSO apps get a Sign in (SSO) button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third scan, after tuning: about a minute into its 2 min 48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Discovery gets you a working, verified login; depth needs someone who knows the app. The repository's hand-tuned DVWA config has both of these settings. The cookie isn't in a newly discovered config, and the UI only edits settings that are in the file, so it was added to app.yaml directly - consistent with rule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481 findings in 185 distinct problems; copies of one finding are grouped (QA-5). One informational finding was set aside on the first run, hence '1 suppressed'.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finding a developer receives. Triage happens here too (Q4).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finding set aside here is informational, on a disposable training app. Decisions live in the app's suppressions.yaml, the file the report command already reads.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publish preview was taken after the first scan, hence 480. Nothing was sent: the demo runs with a placeholder token, and a real publish would need the app repository's commit.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six were exercised in the live runs or the QA script: the production refusal in the demo dry run, the registry refusal in QA H1, masking in QA B and the job tests, the evidence check in QA I3.7, the audit in G3 and I3.8, and read-only viewing in the QA-10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QA script: docs/ui-docs/ui_manual_qa.md. Findings and their fixes: docs/ui-docs/ui_qa_findings.md. Three of the fourteen were real bugs (the results filter showing stale rows, stale onboarding pre-fills, and saved configs becoming owner-only); QA-12 to QA-14 were gaps found while preparing the demo and this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 of these block a first internal scan; each is either a known tuning step or a decision already listed for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decisions have the longest lead time; none of the engineering items blocks a first internal scan.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ask: name the first internal app and the people who will run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 that a person does once, before onboarding; none of it is in the 58 s. Sources: docs/onboarding_a_new_application.md §1 and docs/ui-docs/ui_demo.md. ZAP_API_KEY must be the key ZAP was started with: a test or staging scan refuses an open ZAP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UI screen runs these commands and shows them in its command-line panel. Each command is prefixed python -m. Details: docs/onboarding_a_new_application.md §2 (onboard) and §4 (author, scan, report).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64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10312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6D3DC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65836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65836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6D3DC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6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0"/>
                </a:solidFill>
              </a:rPr>
              <a:t>DAST tool UI · progress since the requirements and mockups · 22 October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EEN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29184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900"/>
              </a:spcAft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indent="0" marL="0">
              <a:spcAft>
                <a:spcPts val="900"/>
              </a:spcAft>
              <a:buNone/>
            </a:pPr>
            <a:endParaRPr lang="en-US" sz="1400" dirty="0"/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0"/>
                </a:solidFill>
              </a:rPr>
              <a:t>DAST tool UI · progress since the requirements and mockups · 22 October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6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20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99" Type="http://schemas.openxmlformats.org/officeDocument/2006/relationships/notesSlide" Target="../notesSlides/notesSlide30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99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The DAST UI: built, tested and in use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103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6D3DC"/>
                </a:solidFill>
              </a:rPr>
              <a:t>Progress since the requirements-and-mockups deck of 21 October</a:t>
            </a:r>
            <a:endParaRPr lang="en-US" sz="2000" dirty="0"/>
          </a:p>
        </p:txBody>
      </p:sp>
      <p:sp>
        <p:nvSpPr>
          <p:cNvPr id="4" name="Overview frame"/>
          <p:cNvSpPr/>
          <p:nvPr/>
        </p:nvSpPr>
        <p:spPr>
          <a:xfrm>
            <a:off x="512064" y="3235262"/>
            <a:ext cx="3502152" cy="2216277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5" name="Overview" descr="Over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71838"/>
            <a:ext cx="3429000" cy="21431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5778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D3DC"/>
                </a:solidFill>
              </a:rPr>
              <a:t>Overview</a:t>
            </a:r>
            <a:endParaRPr lang="en-US" sz="1400" dirty="0"/>
          </a:p>
        </p:txBody>
      </p:sp>
      <p:sp>
        <p:nvSpPr>
          <p:cNvPr id="7" name="Onboarding a new app frame"/>
          <p:cNvSpPr/>
          <p:nvPr/>
        </p:nvSpPr>
        <p:spPr>
          <a:xfrm>
            <a:off x="4329684" y="3235262"/>
            <a:ext cx="3502152" cy="2216277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8" name="Onboarding a new app" descr="Onboarding a new ap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260" y="3271838"/>
            <a:ext cx="3429000" cy="214312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366260" y="55778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D3DC"/>
                </a:solidFill>
              </a:rPr>
              <a:t>Onboarding a new app</a:t>
            </a:r>
            <a:endParaRPr lang="en-US" sz="1400" dirty="0"/>
          </a:p>
        </p:txBody>
      </p:sp>
      <p:sp>
        <p:nvSpPr>
          <p:cNvPr id="10" name="Real results: DVWA frame"/>
          <p:cNvSpPr/>
          <p:nvPr/>
        </p:nvSpPr>
        <p:spPr>
          <a:xfrm>
            <a:off x="8147304" y="3235262"/>
            <a:ext cx="3502152" cy="2216277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11" name="Real results: DVWA" descr="Real results: DVW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3271838"/>
            <a:ext cx="3429000" cy="214312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183880" y="55778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D3DC"/>
                </a:solidFill>
              </a:rPr>
              <a:t>Real results: DVWA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Since the last deck: from three mockups to a working tool</a:t>
            </a:r>
            <a:endParaRPr lang="en-US" sz="3200" dirty="0"/>
          </a:p>
        </p:txBody>
      </p:sp>
      <p:sp>
        <p:nvSpPr>
          <p:cNvPr id="3" name="21 October · the last deck card"/>
          <p:cNvSpPr/>
          <p:nvPr/>
        </p:nvSpPr>
        <p:spPr>
          <a:xfrm>
            <a:off x="548640" y="1325880"/>
            <a:ext cx="5440680" cy="4709160"/>
          </a:xfrm>
          <a:prstGeom prst="roundRect">
            <a:avLst>
              <a:gd name="adj" fmla="val 23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21 October · the last deck rule"/>
          <p:cNvSpPr/>
          <p:nvPr/>
        </p:nvSpPr>
        <p:spPr>
          <a:xfrm>
            <a:off x="548640" y="1325880"/>
            <a:ext cx="5440680" cy="7315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002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21 October · the last deck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4800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Requirements: ~120 settings, four personas, four tiers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Three mockup styles of the same seven screens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Five open questions and one decision needed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UI code yet</a:t>
            </a:r>
            <a:endParaRPr lang="en-US" sz="1600" dirty="0"/>
          </a:p>
        </p:txBody>
      </p:sp>
      <p:sp>
        <p:nvSpPr>
          <p:cNvPr id="7" name="22 October · today card"/>
          <p:cNvSpPr/>
          <p:nvPr/>
        </p:nvSpPr>
        <p:spPr>
          <a:xfrm>
            <a:off x="6172200" y="1325880"/>
            <a:ext cx="5440680" cy="4709160"/>
          </a:xfrm>
          <a:prstGeom prst="roundRect">
            <a:avLst>
              <a:gd name="adj" fmla="val 2330"/>
            </a:avLst>
          </a:prstGeom>
          <a:solidFill>
            <a:srgbClr val="E7F2F0"/>
          </a:solidFill>
          <a:ln w="12700">
            <a:solidFill>
              <a:srgbClr val="E7F2F0"/>
            </a:solidFill>
            <a:prstDash val="solid"/>
          </a:ln>
        </p:spPr>
      </p:sp>
      <p:sp>
        <p:nvSpPr>
          <p:cNvPr id="8" name="22 October · today rule"/>
          <p:cNvSpPr/>
          <p:nvPr/>
        </p:nvSpPr>
        <p:spPr>
          <a:xfrm>
            <a:off x="6172200" y="1325880"/>
            <a:ext cx="544068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6002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22 October · today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194560"/>
            <a:ext cx="4800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working web UI in style 2: ten screens over the real dast commands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Built test-first, against acceptance tests frozen before the code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Tested by hand: a 67-step QA run and the demo preparation found 14 issues; all 14 are fixed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new app taken from nothing to real findings through the UI alone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Seven pull requests merged since (#12–#18)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 numbers</a:t>
            </a:r>
            <a:endParaRPr lang="en-US" sz="3200" dirty="0"/>
          </a:p>
        </p:txBody>
      </p:sp>
      <p:sp>
        <p:nvSpPr>
          <p:cNvPr id="3" name="automated tests in Python card"/>
          <p:cNvSpPr/>
          <p:nvPr/>
        </p:nvSpPr>
        <p:spPr>
          <a:xfrm>
            <a:off x="548640" y="146304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7373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1,227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788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automated tests in Python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2918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including the frozen acceptance tests</a:t>
            </a:r>
            <a:endParaRPr lang="en-US" sz="1300" dirty="0"/>
          </a:p>
        </p:txBody>
      </p:sp>
      <p:sp>
        <p:nvSpPr>
          <p:cNvPr id="7" name="UI tests card"/>
          <p:cNvSpPr/>
          <p:nvPr/>
        </p:nvSpPr>
        <p:spPr>
          <a:xfrm>
            <a:off x="3337560" y="146304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7373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788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UI tests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32918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17 component + 24 in a real browser, with accessibility checks</a:t>
            </a:r>
            <a:endParaRPr lang="en-US" sz="1300" dirty="0"/>
          </a:p>
        </p:txBody>
      </p:sp>
      <p:sp>
        <p:nvSpPr>
          <p:cNvPr id="11" name="QA issues fixed card"/>
          <p:cNvSpPr/>
          <p:nvPr/>
        </p:nvSpPr>
        <p:spPr>
          <a:xfrm>
            <a:off x="6126480" y="146304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17373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/ 14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788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QA issues fixed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32918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from a 67-step manual run and demo prep; each fix tested first</a:t>
            </a:r>
            <a:endParaRPr lang="en-US" sz="1300" dirty="0"/>
          </a:p>
        </p:txBody>
      </p:sp>
      <p:sp>
        <p:nvSpPr>
          <p:cNvPr id="15" name="new app to first results card"/>
          <p:cNvSpPr/>
          <p:nvPr/>
        </p:nvSpPr>
        <p:spPr>
          <a:xfrm>
            <a:off x="8915400" y="146304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0" y="17373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 s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0" y="2788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new app to first results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32918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DVWA: onboard, record the login, scan, through the UI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892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2"/>
                </a:solidFill>
              </a:rPr>
              <a:t>And after tuning two settings, the same DVWA scan found 5 high-severity vulnerabilities: SQL injection and reflected cross-site scripting.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</a:rPr>
              <a:t>Sources: pytest, vitest and Playwright on main (8b60a21); docs/ui-docs/ui_qa_findings.md; the DVWA run in this deck.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The open questions, answered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6D3DC"/>
                </a:solidFill>
              </a:rPr>
              <a:t>The last deck ended on five questions and one decision. Four are decided and built; the fifth waits on the scan postures.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6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Q1–Q4 decided and built; Q5 waits on the scan postures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1234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160520" y="1234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Decision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086600" y="1234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What's built</a:t>
            </a:r>
            <a:endParaRPr lang="en-US" sz="1200" dirty="0"/>
          </a:p>
        </p:txBody>
      </p:sp>
      <p:sp>
        <p:nvSpPr>
          <p:cNvPr id="6" name="Q1 row"/>
          <p:cNvSpPr/>
          <p:nvPr/>
        </p:nvSpPr>
        <p:spPr>
          <a:xfrm>
            <a:off x="548640" y="1600200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Q1 badge"/>
          <p:cNvSpPr/>
          <p:nvPr/>
        </p:nvSpPr>
        <p:spPr>
          <a:xfrm>
            <a:off x="685800" y="1755648"/>
            <a:ext cx="493776" cy="49377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Q1 label"/>
          <p:cNvSpPr txBox="1"/>
          <p:nvPr/>
        </p:nvSpPr>
        <p:spPr>
          <a:xfrm>
            <a:off x="685800" y="17556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709928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Who is the primary user?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160520" y="1709928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Everyone, in style 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1673352"/>
            <a:ext cx="4434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One UI for all four personas. Optional settings stay under Advanced; approvals are read-only.</a:t>
            </a:r>
            <a:endParaRPr lang="en-US" sz="1300" dirty="0"/>
          </a:p>
        </p:txBody>
      </p:sp>
      <p:sp>
        <p:nvSpPr>
          <p:cNvPr id="12" name="Q2 row"/>
          <p:cNvSpPr/>
          <p:nvPr/>
        </p:nvSpPr>
        <p:spPr>
          <a:xfrm>
            <a:off x="548640" y="2514600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Q2 badge"/>
          <p:cNvSpPr/>
          <p:nvPr/>
        </p:nvSpPr>
        <p:spPr>
          <a:xfrm>
            <a:off x="685800" y="2670048"/>
            <a:ext cx="493776" cy="49377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Q2 label"/>
          <p:cNvSpPr txBox="1"/>
          <p:nvPr/>
        </p:nvSpPr>
        <p:spPr>
          <a:xfrm>
            <a:off x="685800" y="26700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624328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Local tool or shared service?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160520" y="2624328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Local first, ready to share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2587752"/>
            <a:ext cx="4434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Loopback only, one-time sign-in link, CSRF on every change; every action records who did it.</a:t>
            </a:r>
            <a:endParaRPr lang="en-US" sz="1300" dirty="0"/>
          </a:p>
        </p:txBody>
      </p:sp>
      <p:sp>
        <p:nvSpPr>
          <p:cNvPr id="18" name="Q3 row"/>
          <p:cNvSpPr/>
          <p:nvPr/>
        </p:nvSpPr>
        <p:spPr>
          <a:xfrm>
            <a:off x="548640" y="3429000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Q3 badge"/>
          <p:cNvSpPr/>
          <p:nvPr/>
        </p:nvSpPr>
        <p:spPr>
          <a:xfrm>
            <a:off x="685800" y="3584448"/>
            <a:ext cx="493776" cy="49377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Q3 label"/>
          <p:cNvSpPr txBox="1"/>
          <p:nvPr/>
        </p:nvSpPr>
        <p:spPr>
          <a:xfrm>
            <a:off x="685800" y="35844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538728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Where do approvals happen?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160520" y="3538728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Designed for pull-request review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3502152"/>
            <a:ext cx="4434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Approval settings show read-only with the git author and date (checked against the real configs).</a:t>
            </a:r>
            <a:endParaRPr lang="en-US" sz="1300" dirty="0"/>
          </a:p>
        </p:txBody>
      </p:sp>
      <p:sp>
        <p:nvSpPr>
          <p:cNvPr id="24" name="Q4 row"/>
          <p:cNvSpPr/>
          <p:nvPr/>
        </p:nvSpPr>
        <p:spPr>
          <a:xfrm>
            <a:off x="548640" y="4343400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Q4 badge"/>
          <p:cNvSpPr/>
          <p:nvPr/>
        </p:nvSpPr>
        <p:spPr>
          <a:xfrm>
            <a:off x="685800" y="4498848"/>
            <a:ext cx="493776" cy="49377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Q4 label"/>
          <p:cNvSpPr txBox="1"/>
          <p:nvPr/>
        </p:nvSpPr>
        <p:spPr>
          <a:xfrm>
            <a:off x="685800" y="44988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453128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Does DEV use the UI?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160520" y="4453128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Yes: triage happens only there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086600" y="4416552"/>
            <a:ext cx="4434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Propose → approve, with a reason and a review date; an expired set-aside counts again.</a:t>
            </a:r>
            <a:endParaRPr lang="en-US" sz="1300" dirty="0"/>
          </a:p>
        </p:txBody>
      </p:sp>
      <p:sp>
        <p:nvSpPr>
          <p:cNvPr id="30" name="Q5 row"/>
          <p:cNvSpPr/>
          <p:nvPr/>
        </p:nvSpPr>
        <p:spPr>
          <a:xfrm>
            <a:off x="548640" y="5257800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Q5 badge"/>
          <p:cNvSpPr/>
          <p:nvPr/>
        </p:nvSpPr>
        <p:spPr>
          <a:xfrm>
            <a:off x="685800" y="5413248"/>
            <a:ext cx="493776" cy="49377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Q5 label"/>
          <p:cNvSpPr txBox="1"/>
          <p:nvPr/>
        </p:nvSpPr>
        <p:spPr>
          <a:xfrm>
            <a:off x="685800" y="54132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Q5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234440" y="5367528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Which settings are approvals?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4160520" y="5367528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Pending: scan postures SP-1…SP-7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086600" y="5330952"/>
            <a:ext cx="4434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Until each is decided its settings stay approval-only, the safe default (docs/decisions_needed.md).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decision asked for: style 2, now built</a:t>
            </a:r>
            <a:endParaRPr lang="en-US" sz="3200" dirty="0"/>
          </a:p>
        </p:txBody>
      </p:sp>
      <p:sp>
        <p:nvSpPr>
          <p:cNvPr id="3" name="Mockup, 21 October frame"/>
          <p:cNvSpPr/>
          <p:nvPr/>
        </p:nvSpPr>
        <p:spPr>
          <a:xfrm>
            <a:off x="512064" y="1523619"/>
            <a:ext cx="5468112" cy="344500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4" name="Mockup, 21 October" descr="Mockup, 21 Octob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60195"/>
            <a:ext cx="5394960" cy="33718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166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Mockup, 21 October</a:t>
            </a:r>
            <a:endParaRPr lang="en-US" sz="1500" dirty="0"/>
          </a:p>
        </p:txBody>
      </p:sp>
      <p:sp>
        <p:nvSpPr>
          <p:cNvPr id="6" name="Built, 22 October frame"/>
          <p:cNvSpPr/>
          <p:nvPr/>
        </p:nvSpPr>
        <p:spPr>
          <a:xfrm>
            <a:off x="6181344" y="1523619"/>
            <a:ext cx="5468112" cy="344500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7" name="Built, 22 October" descr="Built, 22 Octob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60195"/>
            <a:ext cx="5394960" cy="33718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17920" y="5166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Built, 22 October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Light, card-based, with top navigation and a help panel: the same frame for all four personas.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three rules held</a:t>
            </a:r>
            <a:endParaRPr lang="en-US" sz="3200" dirty="0"/>
          </a:p>
        </p:txBody>
      </p:sp>
      <p:sp>
        <p:nvSpPr>
          <p:cNvPr id="3" name="Rule 1 card"/>
          <p:cNvSpPr/>
          <p:nvPr/>
        </p:nvSpPr>
        <p:spPr>
          <a:xfrm>
            <a:off x="548640" y="1371600"/>
            <a:ext cx="3566160" cy="44805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ule 1 badge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Rule 1 label"/>
          <p:cNvSpPr txBox="1"/>
          <p:nvPr/>
        </p:nvSpPr>
        <p:spPr>
          <a:xfrm>
            <a:off x="8229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The config file stays the source of truth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Every save is a diff of app.yaml, shown before it's written, with comments kept. Tuning DVWA took one UI edit and one line in the file: both plain YAML, reviewable in a pull request.</a:t>
            </a:r>
            <a:endParaRPr lang="en-US" sz="1400" dirty="0"/>
          </a:p>
        </p:txBody>
      </p:sp>
      <p:sp>
        <p:nvSpPr>
          <p:cNvPr id="8" name="Rule 2 card"/>
          <p:cNvSpPr/>
          <p:nvPr/>
        </p:nvSpPr>
        <p:spPr>
          <a:xfrm>
            <a:off x="4297680" y="1371600"/>
            <a:ext cx="3566160" cy="44805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Rule 2 badge"/>
          <p:cNvSpPr/>
          <p:nvPr/>
        </p:nvSpPr>
        <p:spPr>
          <a:xfrm>
            <a:off x="457200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Rule 2 label"/>
          <p:cNvSpPr txBox="1"/>
          <p:nvPr/>
        </p:nvSpPr>
        <p:spPr>
          <a:xfrm>
            <a:off x="457200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3774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 front end to the dast commands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33756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Every screen shows the same thing on the command line, and a browser test checks it. Jobs run onboard, author, scan and report: the UI adds no scanning logic of its own.</a:t>
            </a:r>
            <a:endParaRPr lang="en-US" sz="1400" dirty="0"/>
          </a:p>
        </p:txBody>
      </p:sp>
      <p:sp>
        <p:nvSpPr>
          <p:cNvPr id="13" name="Rule 3 card"/>
          <p:cNvSpPr/>
          <p:nvPr/>
        </p:nvSpPr>
        <p:spPr>
          <a:xfrm>
            <a:off x="8046720" y="1371600"/>
            <a:ext cx="3566160" cy="44805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Rule 3 badge"/>
          <p:cNvSpPr/>
          <p:nvPr/>
        </p:nvSpPr>
        <p:spPr>
          <a:xfrm>
            <a:off x="832104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Rule 3 label"/>
          <p:cNvSpPr txBox="1"/>
          <p:nvPr/>
        </p:nvSpPr>
        <p:spPr>
          <a:xfrm>
            <a:off x="83210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3774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Never more permissive than the CLI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33756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Guardrails stay in the core. Production and unregistered hosts are refused before any traffic, by the same check the command line uses; the UI shows the refusal and its fix.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sorting the settings revealed is now in the product</a:t>
            </a:r>
            <a:endParaRPr lang="en-US" sz="3200" dirty="0"/>
          </a:p>
        </p:txBody>
      </p:sp>
      <p:sp>
        <p:nvSpPr>
          <p:cNvPr id="3" name="The hardest part became one question card"/>
          <p:cNvSpPr/>
          <p:nvPr/>
        </p:nvSpPr>
        <p:spPr>
          <a:xfrm>
            <a:off x="548640" y="137160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he hardest part became one question badge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he hardest part became one question label"/>
          <p:cNvSpPr txBox="1"/>
          <p:nvPr/>
        </p:nvSpPr>
        <p:spPr>
          <a:xfrm>
            <a:off x="8229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66420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hardest part became one question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240280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 discovery found DVWA's login and a verified signed-in check in 11 seconds. The person answers yes or no.</a:t>
            </a:r>
            <a:endParaRPr lang="en-US" sz="1400" dirty="0"/>
          </a:p>
        </p:txBody>
      </p:sp>
      <p:sp>
        <p:nvSpPr>
          <p:cNvPr id="8" name="Installation settings stay out of the run card"/>
          <p:cNvSpPr/>
          <p:nvPr/>
        </p:nvSpPr>
        <p:spPr>
          <a:xfrm>
            <a:off x="6172200" y="137160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nstallation settings stay out of the run badge"/>
          <p:cNvSpPr/>
          <p:nvPr/>
        </p:nvSpPr>
        <p:spPr>
          <a:xfrm>
            <a:off x="6446520" y="164592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Installation settings stay out of the run label"/>
          <p:cNvSpPr txBox="1"/>
          <p:nvPr/>
        </p:nvSpPr>
        <p:spPr>
          <a:xfrm>
            <a:off x="64465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166420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Installation settings stay out of the run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2240280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ZAP key, AI key and GitHub token come from the shell. The UI shows only whether each is set, by name.</a:t>
            </a:r>
            <a:endParaRPr lang="en-US" sz="1400" dirty="0"/>
          </a:p>
        </p:txBody>
      </p:sp>
      <p:sp>
        <p:nvSpPr>
          <p:cNvPr id="13" name="“AI on” never pretends card"/>
          <p:cNvSpPr/>
          <p:nvPr/>
        </p:nvSpPr>
        <p:spPr>
          <a:xfrm>
            <a:off x="548640" y="370332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“AI on” never pretends badge"/>
          <p:cNvSpPr/>
          <p:nvPr/>
        </p:nvSpPr>
        <p:spPr>
          <a:xfrm>
            <a:off x="822960" y="39776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“AI on” never pretends label"/>
          <p:cNvSpPr txBox="1"/>
          <p:nvPr/>
        </p:nvSpPr>
        <p:spPr>
          <a:xfrm>
            <a:off x="82296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99592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“AI on” never pretends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572000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With no AI provider, onboarding says so and saves a starting point instead of a guessed login.</a:t>
            </a:r>
            <a:endParaRPr lang="en-US" sz="1400" dirty="0"/>
          </a:p>
        </p:txBody>
      </p:sp>
      <p:sp>
        <p:nvSpPr>
          <p:cNvPr id="18" name="The fail threshold belongs to Governance card"/>
          <p:cNvSpPr/>
          <p:nvPr/>
        </p:nvSpPr>
        <p:spPr>
          <a:xfrm>
            <a:off x="6172200" y="370332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he fail threshold belongs to Governance badge"/>
          <p:cNvSpPr/>
          <p:nvPr/>
        </p:nvSpPr>
        <p:spPr>
          <a:xfrm>
            <a:off x="6446520" y="397764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The fail threshold belongs to Governance label"/>
          <p:cNvSpPr txBox="1"/>
          <p:nvPr/>
        </p:nvSpPr>
        <p:spPr>
          <a:xfrm>
            <a:off x="64465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399592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fail threshold belongs to Governance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4572000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gate.fail_on is an approval setting: read-only in the UI, with who approved it and when.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From mockup to working screen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6D3DC"/>
                </a:solidFill>
              </a:rPr>
              <a:t>The style 2 mockups beside the same screens in the working UI. The built screenshots are from the DVWA run later in this deck.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6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Onboarding: only what the tool can't work out</a:t>
            </a:r>
            <a:endParaRPr lang="en-US" sz="3200" dirty="0"/>
          </a:p>
        </p:txBody>
      </p:sp>
      <p:sp>
        <p:nvSpPr>
          <p:cNvPr id="3" name="Onboarding: only what the tool can't work out: Mockup, 21 October frame"/>
          <p:cNvSpPr/>
          <p:nvPr/>
        </p:nvSpPr>
        <p:spPr>
          <a:xfrm>
            <a:off x="512064" y="1409319"/>
            <a:ext cx="5468112" cy="344500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4" name="Onboarding: only what the tool can't work out: Mockup, 21 October" descr="Onboarding: only what the tool can't work out: Mockup, 21 Octob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45895"/>
            <a:ext cx="5394960" cy="33718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029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Mockup, 21 October</a:t>
            </a:r>
            <a:endParaRPr lang="en-US" sz="1500" dirty="0"/>
          </a:p>
        </p:txBody>
      </p:sp>
      <p:sp>
        <p:nvSpPr>
          <p:cNvPr id="6" name="Onboarding: only what the tool can't work out: Built, 22 October frame"/>
          <p:cNvSpPr/>
          <p:nvPr/>
        </p:nvSpPr>
        <p:spPr>
          <a:xfrm>
            <a:off x="6181344" y="1409319"/>
            <a:ext cx="5468112" cy="344500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7" name="Onboarding: only what the tool can't work out: Built, 22 October" descr="Onboarding: only what the tool can't work out: Built, 22 Octob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45895"/>
            <a:ext cx="5394960" cy="33718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17920" y="5029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Built, 22 October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As designed: four steps and one question about the signed-in check. Built adds discovery through ZAP and the command-line equivalent.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Run progress: five live stages and a safe stop</a:t>
            </a:r>
            <a:endParaRPr lang="en-US" sz="3200" dirty="0"/>
          </a:p>
        </p:txBody>
      </p:sp>
      <p:sp>
        <p:nvSpPr>
          <p:cNvPr id="3" name="Run progress: five live stages and a safe stop: Mockup, 21 October frame"/>
          <p:cNvSpPr/>
          <p:nvPr/>
        </p:nvSpPr>
        <p:spPr>
          <a:xfrm>
            <a:off x="512064" y="1409319"/>
            <a:ext cx="5468112" cy="344500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4" name="Run progress: five live stages and a safe stop: Mockup, 21 October" descr="Run progress: five live stages and a safe stop: Mockup, 21 Octob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45895"/>
            <a:ext cx="5394960" cy="33718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029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Mockup, 21 October</a:t>
            </a:r>
            <a:endParaRPr lang="en-US" sz="1500" dirty="0"/>
          </a:p>
        </p:txBody>
      </p:sp>
      <p:sp>
        <p:nvSpPr>
          <p:cNvPr id="6" name="Run progress: five live stages and a safe stop: Built, 22 October frame"/>
          <p:cNvSpPr/>
          <p:nvPr/>
        </p:nvSpPr>
        <p:spPr>
          <a:xfrm>
            <a:off x="6181344" y="1409319"/>
            <a:ext cx="5468112" cy="344500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7" name="Run progress: five live stages and a safe stop: Built, 22 October" descr="Run progress: five live stages and a safe stop: Built, 22 Octob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45895"/>
            <a:ext cx="5394960" cy="33718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17920" y="5029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Built, 22 October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Safety checks, sign in, scan, organise, coverage. A stopped scan is “stopped”, never “fixed”; the activity comes from the run's own audit log.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the mockup imagined DVWA; this is DVWA</a:t>
            </a:r>
            <a:endParaRPr lang="en-US" sz="3200" dirty="0"/>
          </a:p>
        </p:txBody>
      </p:sp>
      <p:sp>
        <p:nvSpPr>
          <p:cNvPr id="3" name="Results: the mockup imagined DVWA; this is DVWA: Mockup, 21 October frame"/>
          <p:cNvSpPr/>
          <p:nvPr/>
        </p:nvSpPr>
        <p:spPr>
          <a:xfrm>
            <a:off x="512064" y="1409319"/>
            <a:ext cx="5468112" cy="344500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4" name="Results: the mockup imagined DVWA; this is DVWA: Mockup, 21 October" descr="Results: the mockup imagined DVWA; this is DVWA: Mockup, 21 Octob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45895"/>
            <a:ext cx="5394960" cy="33718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029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Mockup, 21 October</a:t>
            </a:r>
            <a:endParaRPr lang="en-US" sz="1500" dirty="0"/>
          </a:p>
        </p:txBody>
      </p:sp>
      <p:sp>
        <p:nvSpPr>
          <p:cNvPr id="6" name="Results: the mockup imagined DVWA; this is DVWA: Built, 22 October frame"/>
          <p:cNvSpPr/>
          <p:nvPr/>
        </p:nvSpPr>
        <p:spPr>
          <a:xfrm>
            <a:off x="6181344" y="1409319"/>
            <a:ext cx="5468112" cy="344500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7" name="Results: the mockup imagined DVWA; this is DVWA: Built, 22 October" descr="Results: the mockup imagined DVWA; this is DVWA: Built, 22 Octob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45895"/>
            <a:ext cx="5394960" cy="33718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17920" y="5029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Built, 22 October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The mockup's numbers were invented. The built page's are a real scan: 481 findings, 5 high, coverage and cut-short checks named.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Governance and automation</a:t>
            </a:r>
            <a:endParaRPr lang="en-US" sz="3200" dirty="0"/>
          </a:p>
        </p:txBody>
      </p:sp>
      <p:sp>
        <p:nvSpPr>
          <p:cNvPr id="3" name="Governance and automation: Mockup, 21 October frame"/>
          <p:cNvSpPr/>
          <p:nvPr/>
        </p:nvSpPr>
        <p:spPr>
          <a:xfrm>
            <a:off x="512064" y="1409319"/>
            <a:ext cx="5468112" cy="344500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4" name="Governance and automation: Mockup, 21 October" descr="Governance and automation: Mockup, 21 Octob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45895"/>
            <a:ext cx="5394960" cy="33718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029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Mockup, 21 October</a:t>
            </a:r>
            <a:endParaRPr lang="en-US" sz="1500" dirty="0"/>
          </a:p>
        </p:txBody>
      </p:sp>
      <p:sp>
        <p:nvSpPr>
          <p:cNvPr id="6" name="Governance and automation: Built, 22 October frame"/>
          <p:cNvSpPr/>
          <p:nvPr/>
        </p:nvSpPr>
        <p:spPr>
          <a:xfrm>
            <a:off x="6181344" y="1409319"/>
            <a:ext cx="5468112" cy="344500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7" name="Governance and automation: Built, 22 October" descr="Governance and automation: Built, 22 Octob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45895"/>
            <a:ext cx="5394960" cy="33718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17920" y="5029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Built, 22 October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Approvals with who decided, what scans deliberately don't test, the environment registry and the audit trail.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 new app, from scratch: DVWA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6D3DC"/>
                </a:solidFill>
              </a:rPr>
              <a:t>Onboarded through the UI alone on 22 October, against its own isolated ZAP. Nothing about DVWA was configured in the tool beforehand; every screenshot is from that run.</a:t>
            </a:r>
            <a:endParaRPr lang="en-US" sz="1800" dirty="0"/>
          </a:p>
        </p:txBody>
      </p:sp>
      <p:sp>
        <p:nvSpPr>
          <p:cNvPr id="30" name="Step 0 panel"/>
          <p:cNvSpPr/>
          <p:nvPr/>
        </p:nvSpPr>
        <p:spPr>
          <a:xfrm>
            <a:off x="7086600" y="1463040"/>
            <a:ext cx="4526280" cy="3611880"/>
          </a:xfrm>
          <a:prstGeom prst="roundRect">
            <a:avLst>
              <a:gd name="adj" fmla="val 4000"/>
            </a:avLst>
          </a:prstGeom>
          <a:solidFill>
            <a:schemeClr val="bg1">
              <a:alpha val="9000"/>
            </a:schemeClr>
          </a:solidFill>
          <a:ln>
            <a:noFill/>
          </a:ln>
        </p:spPr>
      </p:sp>
      <p:sp>
        <p:nvSpPr>
          <p:cNvPr id="31" name="Step 0 heading"/>
          <p:cNvSpPr txBox="1"/>
          <p:nvPr/>
        </p:nvSpPr>
        <p:spPr>
          <a:xfrm>
            <a:off x="7360920" y="173736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0 · Before onboarding: put the app where ZAP can reach it</a:t>
            </a:r>
          </a:p>
        </p:txBody>
      </p:sp>
      <p:sp>
        <p:nvSpPr>
          <p:cNvPr id="32" name="Step 0 items"/>
          <p:cNvSpPr txBox="1"/>
          <p:nvPr/>
        </p:nvSpPr>
        <p:spPr>
          <a:xfrm>
            <a:off x="7360920" y="2423160"/>
            <a:ext cx="3977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Nothing is uploaded. </a:t>
            </a:r>
            <a:r>
              <a:rPr lang="en-US" sz="1300" dirty="0">
                <a:solidFill>
                  <a:srgbClr val="C6D3DC"/>
                </a:solidFill>
              </a:rPr>
              <a:t>ZAP never receives the app: it sends traffic over the network to a copy that is already running.</a:t>
            </a:r>
          </a:p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The image. </a:t>
            </a:r>
            <a:r>
              <a:rPr lang="en-US" sz="1300" dirty="0">
                <a:solidFill>
                  <a:srgbClr val="C6D3DC"/>
                </a:solidFill>
              </a:rPr>
              <a:t>The public vulnerables/web-dvwa from Docker Hub, pinned by digest in compose.yaml (DVWA_IMAGE points at a mirror).</a:t>
            </a:r>
          </a:p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Where it runs. </a:t>
            </a:r>
            <a:r>
              <a:rPr lang="en-US" sz="1300" dirty="0">
                <a:solidFill>
                  <a:srgbClr val="C6D3DC"/>
                </a:solidFill>
              </a:rPr>
              <a:t>A container on the dast Docker network beside ZAP, at http://dvwa: the name ZAP resolves, not localhost. Never port 8080, which is ZAP's own.</a:t>
            </a:r>
          </a:p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Check it. </a:t>
            </a:r>
            <a:r>
              <a:rPr lang="en-US" sz="1300" dirty="0">
                <a:solidFill>
                  <a:srgbClr val="C6D3DC"/>
                </a:solidFill>
              </a:rPr>
              <a:t>docker exec zap curl http://dvwa/ answers 2xx or 3xx. A real app can be any dev or test URL ZAP can reach.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6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First results in 58 s; real flaws in about five minutes</a:t>
            </a:r>
            <a:endParaRPr lang="en-US" sz="3200" dirty="0"/>
          </a:p>
        </p:txBody>
      </p:sp>
      <p:sp>
        <p:nvSpPr>
          <p:cNvPr id="3" name="timeline"/>
          <p:cNvSpPr/>
          <p:nvPr/>
        </p:nvSpPr>
        <p:spPr>
          <a:xfrm>
            <a:off x="960120" y="2331720"/>
            <a:ext cx="9235440" cy="0"/>
          </a:xfrm>
          <a:prstGeom prst="line">
            <a:avLst/>
          </a:prstGeom>
          <a:noFill/>
          <a:ln w="25400">
            <a:solidFill>
              <a:srgbClr val="C9D1DA"/>
            </a:solidFill>
            <a:prstDash val="solid"/>
          </a:ln>
        </p:spPr>
      </p:sp>
      <p:sp>
        <p:nvSpPr>
          <p:cNvPr id="4" name="Onboard badge"/>
          <p:cNvSpPr/>
          <p:nvPr/>
        </p:nvSpPr>
        <p:spPr>
          <a:xfrm>
            <a:off x="548640" y="19202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Onboard label"/>
          <p:cNvSpPr txBox="1"/>
          <p:nvPr/>
        </p:nvSpPr>
        <p:spPr>
          <a:xfrm>
            <a:off x="54864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" y="29260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Onboard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" y="3611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" y="4114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login found in 11 s</a:t>
            </a:r>
            <a:endParaRPr lang="en-US" sz="1300" dirty="0"/>
          </a:p>
        </p:txBody>
      </p:sp>
      <p:sp>
        <p:nvSpPr>
          <p:cNvPr id="9" name="Record the login badge"/>
          <p:cNvSpPr/>
          <p:nvPr/>
        </p:nvSpPr>
        <p:spPr>
          <a:xfrm>
            <a:off x="2395728" y="19202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Record the login label"/>
          <p:cNvSpPr txBox="1"/>
          <p:nvPr/>
        </p:nvSpPr>
        <p:spPr>
          <a:xfrm>
            <a:off x="2395728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938528" y="29260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Record the login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938528" y="3611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938528" y="4114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one click</a:t>
            </a:r>
            <a:endParaRPr lang="en-US" sz="1300" dirty="0"/>
          </a:p>
        </p:txBody>
      </p:sp>
      <p:sp>
        <p:nvSpPr>
          <p:cNvPr id="14" name="First scan badge"/>
          <p:cNvSpPr/>
          <p:nvPr/>
        </p:nvSpPr>
        <p:spPr>
          <a:xfrm>
            <a:off x="4242816" y="19202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First scan label"/>
          <p:cNvSpPr txBox="1"/>
          <p:nvPr/>
        </p:nvSpPr>
        <p:spPr>
          <a:xfrm>
            <a:off x="4242816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3785616" y="29260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First scan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785616" y="3611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s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3785616" y="4114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480 findings, 0 high</a:t>
            </a:r>
            <a:endParaRPr lang="en-US" sz="1300" dirty="0"/>
          </a:p>
        </p:txBody>
      </p:sp>
      <p:sp>
        <p:nvSpPr>
          <p:cNvPr id="19" name="Tune badge"/>
          <p:cNvSpPr/>
          <p:nvPr/>
        </p:nvSpPr>
        <p:spPr>
          <a:xfrm>
            <a:off x="6089904" y="192024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une label"/>
          <p:cNvSpPr txBox="1"/>
          <p:nvPr/>
        </p:nvSpPr>
        <p:spPr>
          <a:xfrm>
            <a:off x="6089904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5632704" y="29260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Tune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632704" y="3611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edits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5632704" y="4114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cookie + pages to test</a:t>
            </a:r>
            <a:endParaRPr lang="en-US" sz="1300" dirty="0"/>
          </a:p>
        </p:txBody>
      </p:sp>
      <p:sp>
        <p:nvSpPr>
          <p:cNvPr id="24" name="Rescan badge"/>
          <p:cNvSpPr/>
          <p:nvPr/>
        </p:nvSpPr>
        <p:spPr>
          <a:xfrm>
            <a:off x="7936992" y="19202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Rescan label"/>
          <p:cNvSpPr txBox="1"/>
          <p:nvPr/>
        </p:nvSpPr>
        <p:spPr>
          <a:xfrm>
            <a:off x="7936992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7479792" y="29260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Rescan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479792" y="3611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min 48 s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7479792" y="4114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5 high</a:t>
            </a:r>
            <a:endParaRPr lang="en-US" sz="1300" dirty="0"/>
          </a:p>
        </p:txBody>
      </p:sp>
      <p:sp>
        <p:nvSpPr>
          <p:cNvPr id="29" name="Triage, publish, automate badge"/>
          <p:cNvSpPr/>
          <p:nvPr/>
        </p:nvSpPr>
        <p:spPr>
          <a:xfrm>
            <a:off x="9784080" y="19202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riage, publish, automate label"/>
          <p:cNvSpPr txBox="1"/>
          <p:nvPr/>
        </p:nvSpPr>
        <p:spPr>
          <a:xfrm>
            <a:off x="978408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6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9326880" y="29260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Triage, publish, automate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326880" y="3611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 s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9326880" y="4114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in the UI</a:t>
            </a:r>
            <a:endParaRPr lang="en-US" sz="1300" dirty="0"/>
          </a:p>
        </p:txBody>
      </p:sp>
      <p:sp>
        <p:nvSpPr>
          <p:cNvPr id="34" name="takeaway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E7F2F0"/>
          </a:solidFill>
          <a:ln w="12700">
            <a:solidFill>
              <a:srgbClr val="E7F2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Every step ran in the UI but one: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line added to app.yaml for DVWA's difficulty cookie. What a person brought was knowledge of the app (which pages take input, and that cookie). That's the step after discovery for any real app, and here it took two small edits.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 · Tell it about the app: three answers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2918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Application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An id, the address as the scanner reaches it (http://dvwa), and the environment.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Refused early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production or unregistered host is refused at this step, before any traffic.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Where and what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Hosts in scope come pre-filled. Never touched: /setup.php, which resets DVWA's database, and /logout.php.</a:t>
            </a:r>
            <a:endParaRPr lang="en-US" sz="1400" dirty="0"/>
          </a:p>
        </p:txBody>
      </p:sp>
      <p:sp>
        <p:nvSpPr>
          <p:cNvPr id="4" name="1 · Tell it about the app: three answers frame"/>
          <p:cNvSpPr/>
          <p:nvPr/>
        </p:nvSpPr>
        <p:spPr>
          <a:xfrm>
            <a:off x="4123944" y="1369314"/>
            <a:ext cx="7571232" cy="475945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5" name="1 · Tell it about the app: three answers" descr="1 · Tell it about the app: three answ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405890"/>
            <a:ext cx="7498080" cy="46863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2 · The tool finds the login; you answer one question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2918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Secrets by name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DVWA_USER and DVWA_PASS: “set in this shell”. The password never passes through the UI.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Discovery, through ZAP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3 login steps and a signed-in check, verified signed in and signed out: 11 seconds.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Your part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Confirm the check, and review the pages it proposes: here, take out /setup.php.</a:t>
            </a:r>
            <a:endParaRPr lang="en-US" sz="1400" dirty="0"/>
          </a:p>
        </p:txBody>
      </p:sp>
      <p:sp>
        <p:nvSpPr>
          <p:cNvPr id="4" name="2 · The tool finds the login; you answer one question frame"/>
          <p:cNvSpPr/>
          <p:nvPr/>
        </p:nvSpPr>
        <p:spPr>
          <a:xfrm>
            <a:off x="4123944" y="1369314"/>
            <a:ext cx="7571232" cy="475945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5" name="2 · The tool finds the login; you answer one question" descr="2 · The tool finds the login; you answer one ques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405890"/>
            <a:ext cx="7498080" cy="46863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3 · Record the login, then scan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2918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A clear next step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new app's settings open with a banner: its login hasn't been recorded yet.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One click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Record the login: the tool signs in with the test account and saves the steps. 14 seconds.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Then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Run a scan. Before PR #17 this step needed a terminal.</a:t>
            </a:r>
            <a:endParaRPr lang="en-US" sz="1400" dirty="0"/>
          </a:p>
        </p:txBody>
      </p:sp>
      <p:sp>
        <p:nvSpPr>
          <p:cNvPr id="4" name="3 · Record the login, then scan frame"/>
          <p:cNvSpPr/>
          <p:nvPr/>
        </p:nvSpPr>
        <p:spPr>
          <a:xfrm>
            <a:off x="4123944" y="1369314"/>
            <a:ext cx="7571232" cy="475945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5" name="3 · Record the login, then scan" descr="3 · Record the login, then sc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405890"/>
            <a:ext cx="7498080" cy="46863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4 · Watch it run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2918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Five stages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Safety checks, sign in, spider and active scan, organise (secrets removed), coverage.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Live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Activity streams from the run's own audit log.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Safe stop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Stop at any time: the run is “stopped”, and pages it didn't reach are “not tested”, never fixed.</a:t>
            </a:r>
            <a:endParaRPr lang="en-US" sz="1400" dirty="0"/>
          </a:p>
        </p:txBody>
      </p:sp>
      <p:sp>
        <p:nvSpPr>
          <p:cNvPr id="4" name="4 · Watch it run frame"/>
          <p:cNvSpPr/>
          <p:nvPr/>
        </p:nvSpPr>
        <p:spPr>
          <a:xfrm>
            <a:off x="4123944" y="1369314"/>
            <a:ext cx="7571232" cy="475945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5" name="4 · Watch it run" descr="4 · Watch it ru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405890"/>
            <a:ext cx="7498080" cy="46863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5 · Two edits turned 0 high findings into 5</a:t>
            </a:r>
            <a:endParaRPr lang="en-US" sz="3200" dirty="0"/>
          </a:p>
        </p:txBody>
      </p:sp>
      <p:graphicFrame>
        <p:nvGraphicFramePr>
          <p:cNvPr id="3" name="High findings by scan" descr=""/>
          <p:cNvGraphicFramePr/>
          <p:nvPr/>
        </p:nvGraphicFramePr>
        <p:xfrm>
          <a:off x="548640" y="1280160"/>
          <a:ext cx="5120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57200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Scan 1, as discovered: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480 findings, 0 high, in 22 s. Two reasons, both about DVWA rather than the tool.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Edit 1, one line in app.yaml: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auth.cookies security: low. DVWA's default difficulty makes every attack fail.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Edit 2, in Settings: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Pages to test with their inputs, e.g. /vulnerabilities/sqli/?id=1. Discovery proposed the pages without parameters, so there was nothing to inject into.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Scan 3: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5 high in 2 min 48 s.</a:t>
            </a:r>
            <a:endParaRPr lang="en-US" sz="1250" dirty="0"/>
          </a:p>
        </p:txBody>
      </p:sp>
      <p:sp>
        <p:nvSpPr>
          <p:cNvPr id="5" name="Pages to test diff frame"/>
          <p:cNvSpPr/>
          <p:nvPr/>
        </p:nvSpPr>
        <p:spPr>
          <a:xfrm>
            <a:off x="5952744" y="1953590"/>
            <a:ext cx="5742432" cy="2767940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6" name="Pages to test diff" descr="Pages to test dif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990166"/>
            <a:ext cx="5669280" cy="269478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989320" y="54864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Edit 2 as the UI showed it: the exact app.yaml diff, before saving.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6 · Results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2918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5 high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SQL injection on id and username; reflected cross-site scripting on three inputs.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Coverage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51 routes, 113 rules; the two time-based checks that ran out of time are named.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Compared with last time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Everything is new until a report is recorded; publishing records it.</a:t>
            </a:r>
            <a:endParaRPr lang="en-US" sz="1400" dirty="0"/>
          </a:p>
        </p:txBody>
      </p:sp>
      <p:sp>
        <p:nvSpPr>
          <p:cNvPr id="4" name="6 · Results frame"/>
          <p:cNvSpPr/>
          <p:nvPr/>
        </p:nvSpPr>
        <p:spPr>
          <a:xfrm>
            <a:off x="4123944" y="1369314"/>
            <a:ext cx="7571232" cy="475945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5" name="6 · Results" descr="6 · Resul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405890"/>
            <a:ext cx="7498080" cy="46863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7 · Understand one finding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2918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What the scanner saw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Input id. Sent: '. Came back: “You have an error in your SQL syntax”.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Why and how to fix it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Rule 40018, CWE-89, with the fix and references.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Reproduce it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curl command for the exact request, for the developer.</a:t>
            </a:r>
            <a:endParaRPr lang="en-US" sz="1400" dirty="0"/>
          </a:p>
        </p:txBody>
      </p:sp>
      <p:sp>
        <p:nvSpPr>
          <p:cNvPr id="4" name="7 · Understand one finding frame"/>
          <p:cNvSpPr/>
          <p:nvPr/>
        </p:nvSpPr>
        <p:spPr>
          <a:xfrm>
            <a:off x="4123944" y="1369314"/>
            <a:ext cx="7571232" cy="475945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5" name="7 · Understand one finding" descr="7 · Understand one fin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405890"/>
            <a:ext cx="7498080" cy="46863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8 · Triage: a reason, a review date, an approval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2918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Propose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Reason (false positive, accepted risk, won't fix, test data), why, and a review date.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Approve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proposal changes nothing until a security engineer approves it.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Expiry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When the review date passes, the finding counts again and says so.</a:t>
            </a:r>
            <a:endParaRPr lang="en-US" sz="1400" dirty="0"/>
          </a:p>
        </p:txBody>
      </p:sp>
      <p:sp>
        <p:nvSpPr>
          <p:cNvPr id="4" name="8 · Triage: a reason, a review date, an approval frame"/>
          <p:cNvSpPr/>
          <p:nvPr/>
        </p:nvSpPr>
        <p:spPr>
          <a:xfrm>
            <a:off x="4123944" y="1369314"/>
            <a:ext cx="7571232" cy="475945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5" name="8 · Triage: a reason, a review date, an approval" descr="8 · Triage: a reason, a review date, an approv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405890"/>
            <a:ext cx="7498080" cy="46863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9 · Publish and automate</a:t>
            </a:r>
            <a:endParaRPr lang="en-US" sz="3200" dirty="0"/>
          </a:p>
        </p:txBody>
      </p:sp>
      <p:sp>
        <p:nvSpPr>
          <p:cNvPr id="3" name="Publish to GitHub → Preview frame"/>
          <p:cNvSpPr/>
          <p:nvPr/>
        </p:nvSpPr>
        <p:spPr>
          <a:xfrm>
            <a:off x="512064" y="1295019"/>
            <a:ext cx="5468112" cy="344500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4" name="Publish to GitHub → Preview" descr="Publish to GitHub → Pre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31595"/>
            <a:ext cx="5394960" cy="33718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46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Publish to GitHub → Preview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5780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What would go to code scanning: 480 results as dast/dvwa. Publishing needs the deployed commit, and the token by variable name. Evidence is checked for secrets first.</a:t>
            </a:r>
            <a:endParaRPr lang="en-US" sz="1300" dirty="0"/>
          </a:p>
        </p:txBody>
      </p:sp>
      <p:sp>
        <p:nvSpPr>
          <p:cNvPr id="7" name="Automation → workflow frame"/>
          <p:cNvSpPr/>
          <p:nvPr/>
        </p:nvSpPr>
        <p:spPr>
          <a:xfrm>
            <a:off x="6181344" y="1295019"/>
            <a:ext cx="5468112" cy="344500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8" name="Automation → workflow" descr="Automation → workfl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31595"/>
            <a:ext cx="5394960" cy="337185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217920" y="4846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Automation → workflow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217920" y="525780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scheduled GitHub workflow for the app's own repository, with its secrets named. The UI schedules nothing itself.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Guardrails, seen working</a:t>
            </a:r>
            <a:endParaRPr lang="en-US" sz="3200" dirty="0"/>
          </a:p>
        </p:txBody>
      </p:sp>
      <p:sp>
        <p:nvSpPr>
          <p:cNvPr id="3" name="Production refused card"/>
          <p:cNvSpPr/>
          <p:nvPr/>
        </p:nvSpPr>
        <p:spPr>
          <a:xfrm>
            <a:off x="548640" y="137160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roduction refused rule"/>
          <p:cNvSpPr/>
          <p:nvPr/>
        </p:nvSpPr>
        <p:spPr>
          <a:xfrm>
            <a:off x="548640" y="1371600"/>
            <a:ext cx="82296" cy="2148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Production refused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shop.prod.example.com: “looks like a production system, so it can't be scanned.”</a:t>
            </a:r>
            <a:endParaRPr lang="en-US" sz="1350" dirty="0"/>
          </a:p>
        </p:txBody>
      </p:sp>
      <p:sp>
        <p:nvSpPr>
          <p:cNvPr id="7" name="Unregistered test host refused card"/>
          <p:cNvSpPr/>
          <p:nvPr/>
        </p:nvSpPr>
        <p:spPr>
          <a:xfrm>
            <a:off x="4297680" y="137160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Unregistered test host refused rule"/>
          <p:cNvSpPr/>
          <p:nvPr/>
        </p:nvSpPr>
        <p:spPr>
          <a:xfrm>
            <a:off x="4297680" y="1371600"/>
            <a:ext cx="82296" cy="2148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1645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Unregistered test host refused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33172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A test host must be in the environment registry, or nothing starts.</a:t>
            </a:r>
            <a:endParaRPr lang="en-US" sz="1350" dirty="0"/>
          </a:p>
        </p:txBody>
      </p:sp>
      <p:sp>
        <p:nvSpPr>
          <p:cNvPr id="11" name="Secrets by name only card"/>
          <p:cNvSpPr/>
          <p:nvPr/>
        </p:nvSpPr>
        <p:spPr>
          <a:xfrm>
            <a:off x="8046720" y="137160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ecrets by name only rule"/>
          <p:cNvSpPr/>
          <p:nvPr/>
        </p:nvSpPr>
        <p:spPr>
          <a:xfrm>
            <a:off x="8046720" y="1371600"/>
            <a:ext cx="82296" cy="2148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1645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Secrets by name only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33172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Only variable names reach app.yaml or the page; values are masked in job logs.</a:t>
            </a:r>
            <a:endParaRPr lang="en-US" sz="1350" dirty="0"/>
          </a:p>
        </p:txBody>
      </p:sp>
      <p:sp>
        <p:nvSpPr>
          <p:cNvPr id="15" name="Evidence checked before publishing card"/>
          <p:cNvSpPr/>
          <p:nvPr/>
        </p:nvSpPr>
        <p:spPr>
          <a:xfrm>
            <a:off x="54864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Evidence checked before publishing rule"/>
          <p:cNvSpPr/>
          <p:nvPr/>
        </p:nvSpPr>
        <p:spPr>
          <a:xfrm>
            <a:off x="548640" y="3749040"/>
            <a:ext cx="82296" cy="2148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023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Evidence checked before publishing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70916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Every scan's evidence is re-checked for secrets; both live runs came back clean.</a:t>
            </a:r>
            <a:endParaRPr lang="en-US" sz="1350" dirty="0"/>
          </a:p>
        </p:txBody>
      </p:sp>
      <p:sp>
        <p:nvSpPr>
          <p:cNvPr id="19" name="Every action audited card"/>
          <p:cNvSpPr/>
          <p:nvPr/>
        </p:nvSpPr>
        <p:spPr>
          <a:xfrm>
            <a:off x="429768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Every action audited rule"/>
          <p:cNvSpPr/>
          <p:nvPr/>
        </p:nvSpPr>
        <p:spPr>
          <a:xfrm>
            <a:off x="4297680" y="3749040"/>
            <a:ext cx="82296" cy="2148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17720" y="4023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Every action audited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470916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Who started, stopped, saved or approved what, in one trail.</a:t>
            </a:r>
            <a:endParaRPr lang="en-US" sz="1350" dirty="0"/>
          </a:p>
        </p:txBody>
      </p:sp>
      <p:sp>
        <p:nvSpPr>
          <p:cNvPr id="23" name="Looking never changes anything card"/>
          <p:cNvSpPr/>
          <p:nvPr/>
        </p:nvSpPr>
        <p:spPr>
          <a:xfrm>
            <a:off x="804672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Looking never changes anything rule"/>
          <p:cNvSpPr/>
          <p:nvPr/>
        </p:nvSpPr>
        <p:spPr>
          <a:xfrm>
            <a:off x="8046720" y="3749040"/>
            <a:ext cx="82296" cy="2148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66760" y="4023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Looking never changes anything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470916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The comparison is computed read-only; a save keeps the file's permissions.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Quality: built test-first, then tested by hand</a:t>
            </a:r>
            <a:endParaRPr lang="en-US" sz="3200" dirty="0"/>
          </a:p>
        </p:txBody>
      </p:sp>
      <p:sp>
        <p:nvSpPr>
          <p:cNvPr id="3" name="process card"/>
          <p:cNvSpPr/>
          <p:nvPr/>
        </p:nvSpPr>
        <p:spPr>
          <a:xfrm>
            <a:off x="548640" y="1325880"/>
            <a:ext cx="544068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How it was built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48840"/>
            <a:ext cx="4846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Acceptance criteria written and frozen before any UI code; a test checks they never drift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fix starts with a failing test, committed first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CI on every pull request: Python, components, and a real browser with accessibility checks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race that only showed on CI's slower machines was reproduced by slowing the CPU 6×, then fixed</a:t>
            </a:r>
            <a:endParaRPr lang="en-US" sz="1500" dirty="0"/>
          </a:p>
        </p:txBody>
      </p:sp>
      <p:sp>
        <p:nvSpPr>
          <p:cNvPr id="6" name="QA 0 card"/>
          <p:cNvSpPr/>
          <p:nvPr/>
        </p:nvSpPr>
        <p:spPr>
          <a:xfrm>
            <a:off x="6172200" y="1325880"/>
            <a:ext cx="5486400" cy="1051560"/>
          </a:xfrm>
          <a:prstGeom prst="roundRect">
            <a:avLst>
              <a:gd name="adj" fmla="val 10435"/>
            </a:avLst>
          </a:prstGeom>
          <a:solidFill>
            <a:srgbClr val="E7F2F0"/>
          </a:solidFill>
          <a:ln w="12700">
            <a:solidFill>
              <a:srgbClr val="E7F2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43560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143560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steps in the manual QA script, run end to end</a:t>
            </a:r>
            <a:endParaRPr lang="en-US" sz="1500" dirty="0"/>
          </a:p>
        </p:txBody>
      </p:sp>
      <p:sp>
        <p:nvSpPr>
          <p:cNvPr id="9" name="QA 1 card"/>
          <p:cNvSpPr/>
          <p:nvPr/>
        </p:nvSpPr>
        <p:spPr>
          <a:xfrm>
            <a:off x="6172200" y="2532888"/>
            <a:ext cx="548640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2642616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2642616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issues found by the run and while preparing the demo and this deck</a:t>
            </a:r>
            <a:endParaRPr lang="en-US" sz="1500" dirty="0"/>
          </a:p>
        </p:txBody>
      </p:sp>
      <p:sp>
        <p:nvSpPr>
          <p:cNvPr id="12" name="QA 2 card"/>
          <p:cNvSpPr/>
          <p:nvPr/>
        </p:nvSpPr>
        <p:spPr>
          <a:xfrm>
            <a:off x="6172200" y="3739896"/>
            <a:ext cx="5486400" cy="1051560"/>
          </a:xfrm>
          <a:prstGeom prst="roundRect">
            <a:avLst>
              <a:gd name="adj" fmla="val 10435"/>
            </a:avLst>
          </a:prstGeom>
          <a:solidFill>
            <a:srgbClr val="E7F2F0"/>
          </a:solidFill>
          <a:ln w="12700">
            <a:solidFill>
              <a:srgbClr val="E7F2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3849624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3849624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fixed in PRs #16–#18, each with its test</a:t>
            </a:r>
            <a:endParaRPr lang="en-US" sz="1500" dirty="0"/>
          </a:p>
        </p:txBody>
      </p:sp>
      <p:sp>
        <p:nvSpPr>
          <p:cNvPr id="15" name="QA 3 card"/>
          <p:cNvSpPr/>
          <p:nvPr/>
        </p:nvSpPr>
        <p:spPr>
          <a:xfrm>
            <a:off x="6172200" y="4946904"/>
            <a:ext cx="548640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505663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2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505663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re-test of the fixes, in progress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Known limits, stated plainly</a:t>
            </a:r>
            <a:endParaRPr lang="en-US" sz="3200" dirty="0"/>
          </a:p>
        </p:txBody>
      </p:sp>
      <p:sp>
        <p:nvSpPr>
          <p:cNvPr id="3" name="Discovery finds the login, not the depth badge"/>
          <p:cNvSpPr/>
          <p:nvPr/>
        </p:nvSpPr>
        <p:spPr>
          <a:xfrm>
            <a:off x="548640" y="143560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Discovery finds the login, not the depth label"/>
          <p:cNvSpPr txBox="1"/>
          <p:nvPr/>
        </p:nvSpPr>
        <p:spPr>
          <a:xfrm>
            <a:off x="54864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!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3716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Discovery finds the login, not the depth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37160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Pages with inputs and app quirks still need someone who knows the app (DVWA: two edits).</a:t>
            </a:r>
            <a:endParaRPr lang="en-US" sz="1400" dirty="0"/>
          </a:p>
        </p:txBody>
      </p:sp>
      <p:sp>
        <p:nvSpPr>
          <p:cNvPr id="7" name="Optional settings not in the file badge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Optional settings not in the file label"/>
          <p:cNvSpPr txBox="1"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!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31343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Optional settings not in the file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2313432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UI edits what's in app.yaml and every required setting; adding other optional ones is a file edit.</a:t>
            </a:r>
            <a:endParaRPr lang="en-US" sz="1400" dirty="0"/>
          </a:p>
        </p:txBody>
      </p:sp>
      <p:sp>
        <p:nvSpPr>
          <p:cNvPr id="11" name="Discovery isn't perfect (ONB-8) badge"/>
          <p:cNvSpPr/>
          <p:nvPr/>
        </p:nvSpPr>
        <p:spPr>
          <a:xfrm>
            <a:off x="548640" y="331927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Discovery isn&amp;apos;t perfect (ONB-8) label"/>
          <p:cNvSpPr txBox="1"/>
          <p:nvPr/>
        </p:nvSpPr>
        <p:spPr>
          <a:xfrm>
            <a:off x="54864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!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25526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Discovery isn't perfect (ONB-8)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3255264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 the semgate lab it can't verify a signed-in check and falls back to a starting point.</a:t>
            </a:r>
            <a:endParaRPr lang="en-US" sz="1400" dirty="0"/>
          </a:p>
        </p:txBody>
      </p:sp>
      <p:sp>
        <p:nvSpPr>
          <p:cNvPr id="15" name="Some tests stay off by default badge"/>
          <p:cNvSpPr/>
          <p:nvPr/>
        </p:nvSpPr>
        <p:spPr>
          <a:xfrm>
            <a:off x="548640" y="4261104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Some tests stay off by default label"/>
          <p:cNvSpPr txBox="1"/>
          <p:nvPr/>
        </p:nvSpPr>
        <p:spPr>
          <a:xfrm>
            <a:off x="54864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!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19709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Some tests stay off by default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4197096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DOM-XSS (~15 min, ~5 GiB on DVWA), out-of-band and multi-user checks: disclosed, awaiting decisions.</a:t>
            </a:r>
            <a:endParaRPr lang="en-US" sz="1400" dirty="0"/>
          </a:p>
        </p:txBody>
      </p:sp>
      <p:sp>
        <p:nvSpPr>
          <p:cNvPr id="19" name="A long path wraps mid-word in results badge"/>
          <p:cNvSpPr/>
          <p:nvPr/>
        </p:nvSpPr>
        <p:spPr>
          <a:xfrm>
            <a:off x="548640" y="5202936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A long path wraps mid-word in results label"/>
          <p:cNvSpPr txBox="1"/>
          <p:nvPr/>
        </p:nvSpPr>
        <p:spPr>
          <a:xfrm>
            <a:off x="548640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!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513892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 long path wraps mid-word in results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5138928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Cosmetic; logged as QA-15.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What's next</a:t>
            </a:r>
            <a:endParaRPr lang="en-US" sz="3200" dirty="0"/>
          </a:p>
        </p:txBody>
      </p:sp>
      <p:sp>
        <p:nvSpPr>
          <p:cNvPr id="3" name="Decisions (docs/decisions_needed.md) card"/>
          <p:cNvSpPr/>
          <p:nvPr/>
        </p:nvSpPr>
        <p:spPr>
          <a:xfrm>
            <a:off x="548640" y="1325880"/>
            <a:ext cx="5440680" cy="4709160"/>
          </a:xfrm>
          <a:prstGeom prst="roundRect">
            <a:avLst>
              <a:gd name="adj" fmla="val 23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ecisions (docs/decisions_needed.md) rule"/>
          <p:cNvSpPr/>
          <p:nvPr/>
        </p:nvSpPr>
        <p:spPr>
          <a:xfrm>
            <a:off x="548640" y="1325880"/>
            <a:ext cx="5440680" cy="7315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002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Decisions (docs/decisions_needed.md)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4800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Gate 0: which internal app is scanned first, and who runs it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self-hosted GitHub runner, for unattended scans and hosted evidence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Who signs the scorecard against commercial scanners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scan postures SP-1…SP-7, per app</a:t>
            </a:r>
            <a:endParaRPr lang="en-US" sz="1600" dirty="0"/>
          </a:p>
        </p:txBody>
      </p:sp>
      <p:sp>
        <p:nvSpPr>
          <p:cNvPr id="7" name="Engineering card"/>
          <p:cNvSpPr/>
          <p:nvPr/>
        </p:nvSpPr>
        <p:spPr>
          <a:xfrm>
            <a:off x="6172200" y="1325880"/>
            <a:ext cx="5440680" cy="4709160"/>
          </a:xfrm>
          <a:prstGeom prst="roundRect">
            <a:avLst>
              <a:gd name="adj" fmla="val 23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Engineering rule"/>
          <p:cNvSpPr/>
          <p:nvPr/>
        </p:nvSpPr>
        <p:spPr>
          <a:xfrm>
            <a:off x="6172200" y="1325880"/>
            <a:ext cx="544068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6002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Engineering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194560"/>
            <a:ext cx="4800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Finish QA run 2: the hand re-test of all 14 fixes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Cache the browser install in CI (one job in two waits ~10 min)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QA-15, and decide how optional settings are added from the UI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Onboard the first internal app with its owners, using this flow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Ready for a first internal app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103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6D3DC"/>
                </a:solidFill>
              </a:rPr>
              <a:t>The tool, the UI and the walkthrough are ready. What's needed now is the app and its owners (Gate 0).</a:t>
            </a:r>
            <a:endParaRPr lang="en-US" sz="2000" dirty="0"/>
          </a:p>
        </p:txBody>
      </p:sp>
      <p:sp>
        <p:nvSpPr>
          <p:cNvPr id="4" name="A real finding frame"/>
          <p:cNvSpPr/>
          <p:nvPr/>
        </p:nvSpPr>
        <p:spPr>
          <a:xfrm>
            <a:off x="640080" y="3209544"/>
            <a:ext cx="4754880" cy="299923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533">
                <a:alpha val="18000"/>
              </a:srgbClr>
            </a:outerShdw>
          </a:effectLst>
        </p:spPr>
      </p:sp>
      <p:pic>
        <p:nvPicPr>
          <p:cNvPr id="5" name="A real finding" descr="A real fin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3246120"/>
            <a:ext cx="4681728" cy="2926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0" y="338328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Try it: </a:t>
            </a:r>
            <a:pPr indent="0" marL="0">
              <a:buNone/>
            </a:pPr>
            <a:r>
              <a:rPr lang="en-US" sz="1800" dirty="0">
                <a:solidFill>
                  <a:srgbClr val="C6D3DC"/>
                </a:solidFill>
              </a:rPr>
              <a:t>docs/ui-docs/ui_demo.md walks through a 15-minute demo on an isolated ZAP and Juice Shop. docs/ui-docs/ui_manual_qa.md is the full test script.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 · Prepare, then start the st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0 · Prepare, then start the stack</a:t>
            </a:r>
            <a:endParaRPr lang="en-US" sz="3000" dirty="0"/>
          </a:p>
        </p:txBody>
      </p:sp>
      <p:sp>
        <p:nvSpPr>
          <p:cNvPr id="3" name="Non-production only card"/>
          <p:cNvSpPr/>
          <p:nvPr/>
        </p:nvSpPr>
        <p:spPr>
          <a:xfrm>
            <a:off x="548640" y="137160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on-production only rule"/>
          <p:cNvSpPr/>
          <p:nvPr/>
        </p:nvSpPr>
        <p:spPr>
          <a:xfrm>
            <a:off x="548640" y="1371600"/>
            <a:ext cx="82296" cy="2148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Non-production only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Production hosts are refused before any traffic, whatever the scope says. DVWA is dev.</a:t>
            </a:r>
            <a:endParaRPr lang="en-US" sz="1350" dirty="0"/>
          </a:p>
        </p:txBody>
      </p:sp>
      <p:sp>
        <p:nvSpPr>
          <p:cNvPr id="7" name="Shared hosts registered card"/>
          <p:cNvSpPr/>
          <p:nvPr/>
        </p:nvSpPr>
        <p:spPr>
          <a:xfrm>
            <a:off x="4297680" y="137160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red hosts registered rule"/>
          <p:cNvSpPr/>
          <p:nvPr/>
        </p:nvSpPr>
        <p:spPr>
          <a:xfrm>
            <a:off x="4297680" y="1371600"/>
            <a:ext cx="82296" cy="2148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1645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Shared hosts registered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33172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Test and staging hosts must be in security/dast/environments.yaml with their class. Dev hosts needn't be.</a:t>
            </a:r>
            <a:endParaRPr lang="en-US" sz="1350" dirty="0"/>
          </a:p>
        </p:txBody>
      </p:sp>
      <p:sp>
        <p:nvSpPr>
          <p:cNvPr id="11" name="A test account card"/>
          <p:cNvSpPr/>
          <p:nvPr/>
        </p:nvSpPr>
        <p:spPr>
          <a:xfrm>
            <a:off x="8046720" y="137160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A test account rule"/>
          <p:cNvSpPr/>
          <p:nvPr/>
        </p:nvSpPr>
        <p:spPr>
          <a:xfrm>
            <a:off x="8046720" y="1371600"/>
            <a:ext cx="82296" cy="2148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1645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 test account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33172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The tool never creates accounts unless the app allows it. DVWA's admin; log in once by hand to check it.</a:t>
            </a:r>
            <a:endParaRPr lang="en-US" sz="1350" dirty="0"/>
          </a:p>
        </p:txBody>
      </p:sp>
      <p:sp>
        <p:nvSpPr>
          <p:cNvPr id="15" name="One-time app prep card"/>
          <p:cNvSpPr/>
          <p:nvPr/>
        </p:nvSpPr>
        <p:spPr>
          <a:xfrm>
            <a:off x="54864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One-time app prep rule"/>
          <p:cNvSpPr/>
          <p:nvPr/>
        </p:nvSpPr>
        <p:spPr>
          <a:xfrm>
            <a:off x="548640" y="3749040"/>
            <a:ext cx="82296" cy="2148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023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One-time app prep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70916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What a person does by hand the first time. DVWA: /setup.php → Create / Reset Database.</a:t>
            </a:r>
            <a:endParaRPr lang="en-US" sz="1350" dirty="0"/>
          </a:p>
        </p:txBody>
      </p:sp>
      <p:sp>
        <p:nvSpPr>
          <p:cNvPr id="19" name="Secrets in the shell, by name card"/>
          <p:cNvSpPr/>
          <p:nvPr/>
        </p:nvSpPr>
        <p:spPr>
          <a:xfrm>
            <a:off x="429768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ecrets in the shell, by name rule"/>
          <p:cNvSpPr/>
          <p:nvPr/>
        </p:nvSpPr>
        <p:spPr>
          <a:xfrm>
            <a:off x="4297680" y="3749040"/>
            <a:ext cx="82296" cy="2148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17720" y="4023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Secrets in the shell, by name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470916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DVWA_USER, DVWA_PASS, ZAP_API_KEY (the key ZAP started with); ANTHROPIC_API_KEY for discovery, optional.</a:t>
            </a:r>
            <a:endParaRPr lang="en-US" sz="1350" dirty="0"/>
          </a:p>
        </p:txBody>
      </p:sp>
      <p:sp>
        <p:nvSpPr>
          <p:cNvPr id="23" name="Start ZAP, the app and the UI card"/>
          <p:cNvSpPr/>
          <p:nvPr/>
        </p:nvSpPr>
        <p:spPr>
          <a:xfrm>
            <a:off x="804672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tart ZAP, the app and the UI rule"/>
          <p:cNvSpPr/>
          <p:nvPr/>
        </p:nvSpPr>
        <p:spPr>
          <a:xfrm>
            <a:off x="8046720" y="3749040"/>
            <a:ext cx="82296" cy="2148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66760" y="4023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Start ZAP, the app and the UI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470916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docker compose --profile dvwa up -d dvwa zap, then python -m dast ui and open its one-time link.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same run without the U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same run without the UI</a:t>
            </a:r>
            <a:endParaRPr lang="en-US" sz="3200" dirty="0"/>
          </a:p>
        </p:txBody>
      </p:sp>
      <p:sp>
        <p:nvSpPr>
          <p:cNvPr id="3" name="1 · Onboard card"/>
          <p:cNvSpPr/>
          <p:nvPr/>
        </p:nvSpPr>
        <p:spPr>
          <a:xfrm>
            <a:off x="548640" y="137160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1 · Onboard rule"/>
          <p:cNvSpPr/>
          <p:nvPr/>
        </p:nvSpPr>
        <p:spPr>
          <a:xfrm>
            <a:off x="548640" y="1371600"/>
            <a:ext cx="82296" cy="2148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 · Onboard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dast onboard dvwa ‑‑discover, given the address (http://dvwa), the login page and ZAP as proxy. Writes app.yaml.</a:t>
            </a:r>
            <a:endParaRPr lang="en-US" sz="1350" dirty="0"/>
          </a:p>
        </p:txBody>
      </p:sp>
      <p:sp>
        <p:nvSpPr>
          <p:cNvPr id="7" name="2 · Record the login card"/>
          <p:cNvSpPr/>
          <p:nvPr/>
        </p:nvSpPr>
        <p:spPr>
          <a:xfrm>
            <a:off x="4297680" y="137160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2 · Record the login rule"/>
          <p:cNvSpPr/>
          <p:nvPr/>
        </p:nvSpPr>
        <p:spPr>
          <a:xfrm>
            <a:off x="4297680" y="1371600"/>
            <a:ext cx="82296" cy="2148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1645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 · Record the login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33172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dast author dvwa signs in with the test account, saves the steps and replays them to check.</a:t>
            </a:r>
            <a:endParaRPr lang="en-US" sz="1350" dirty="0"/>
          </a:p>
        </p:txBody>
      </p:sp>
      <p:sp>
        <p:nvSpPr>
          <p:cNvPr id="11" name="3 · Scan card"/>
          <p:cNvSpPr/>
          <p:nvPr/>
        </p:nvSpPr>
        <p:spPr>
          <a:xfrm>
            <a:off x="8046720" y="137160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3 · Scan rule"/>
          <p:cNvSpPr/>
          <p:nvPr/>
        </p:nvSpPr>
        <p:spPr>
          <a:xfrm>
            <a:off x="8046720" y="1371600"/>
            <a:ext cx="82296" cy="2148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1645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 · Scan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33172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dast scan dvwa: safety checks, sign in, spider and active scan, organise, coverage.</a:t>
            </a:r>
            <a:endParaRPr lang="en-US" sz="1350" dirty="0"/>
          </a:p>
        </p:txBody>
      </p:sp>
      <p:sp>
        <p:nvSpPr>
          <p:cNvPr id="15" name="4 · Tune card"/>
          <p:cNvSpPr/>
          <p:nvPr/>
        </p:nvSpPr>
        <p:spPr>
          <a:xfrm>
            <a:off x="54864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4 · Tune rule"/>
          <p:cNvSpPr/>
          <p:nvPr/>
        </p:nvSpPr>
        <p:spPr>
          <a:xfrm>
            <a:off x="548640" y="3749040"/>
            <a:ext cx="82296" cy="2148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023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4 · Tune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70916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Edit security/dast/dvwa/app.yaml: the cookie, and the pages with their inputs. Then scan again.</a:t>
            </a:r>
            <a:endParaRPr lang="en-US" sz="1350" dirty="0"/>
          </a:p>
        </p:txBody>
      </p:sp>
      <p:sp>
        <p:nvSpPr>
          <p:cNvPr id="19" name="5 · Report and publish card"/>
          <p:cNvSpPr/>
          <p:nvPr/>
        </p:nvSpPr>
        <p:spPr>
          <a:xfrm>
            <a:off x="429768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5 · Report and publish rule"/>
          <p:cNvSpPr/>
          <p:nvPr/>
        </p:nvSpPr>
        <p:spPr>
          <a:xfrm>
            <a:off x="4297680" y="3749040"/>
            <a:ext cx="82296" cy="2148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17720" y="4023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5 · Report and publish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470916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dast report dvwa compares with the last run and writes SARIF and summary.md; with ‑‑upload it publishes.</a:t>
            </a:r>
            <a:endParaRPr lang="en-US" sz="1350" dirty="0"/>
          </a:p>
        </p:txBody>
      </p:sp>
      <p:sp>
        <p:nvSpPr>
          <p:cNvPr id="23" name="6 · Triage card"/>
          <p:cNvSpPr/>
          <p:nvPr/>
        </p:nvSpPr>
        <p:spPr>
          <a:xfrm>
            <a:off x="804672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6 · Triage rule"/>
          <p:cNvSpPr/>
          <p:nvPr/>
        </p:nvSpPr>
        <p:spPr>
          <a:xfrm>
            <a:off x="8046720" y="3749040"/>
            <a:ext cx="82296" cy="2148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66760" y="4023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6 · Triage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470916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Proposals and approvals go in the app's suppressions.yaml, the file report already reads.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ST UI">
  <a:themeElements>
    <a:clrScheme name="DAST UI">
      <a:dk1>
        <a:srgbClr val="1B2533"/>
      </a:dk1>
      <a:lt1>
        <a:srgbClr val="FFFFFF"/>
      </a:lt1>
      <a:dk2>
        <a:srgbClr val="0F2A3A"/>
      </a:dk2>
      <a:lt2>
        <a:srgbClr val="F1F4F7"/>
      </a:lt2>
      <a:accent1>
        <a:srgbClr val="0F6B62"/>
      </a:accent1>
      <a:accent2>
        <a:srgbClr val="A8650B"/>
      </a:accent2>
      <a:accent3>
        <a:srgbClr val="1F5FBF"/>
      </a:accent3>
      <a:accent4>
        <a:srgbClr val="6D3FC0"/>
      </a:accent4>
      <a:accent5>
        <a:srgbClr val="5F6B7A"/>
      </a:accent5>
      <a:accent6>
        <a:srgbClr val="B42318"/>
      </a:accent6>
      <a:hlink>
        <a:srgbClr val="1F5FBF"/>
      </a:hlink>
      <a:folHlink>
        <a:srgbClr val="6D3FC0"/>
      </a:folHlink>
    </a:clrScheme>
    <a:fontScheme name="DAST U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DAST tool UI — progress since the mockups</dc:title>
  <dc:subject>PptxGenJS Presentation</dc:subject>
  <dc:creator>Security engineering</dc:creator>
  <cp:lastModifiedBy>Security engineering</cp:lastModifiedBy>
  <cp:revision>1</cp:revision>
  <dcterms:created xsi:type="dcterms:W3CDTF">2026-10-22T22:47:37Z</dcterms:created>
  <dcterms:modified xsi:type="dcterms:W3CDTF">2026-10-22T22:47:37Z</dcterms:modified>
</cp:coreProperties>
</file>